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223760" y="0"/>
            <a:ext cx="4974336" cy="6858000"/>
          </a:xfrm>
          <a:prstGeom prst="rect">
            <a:avLst/>
          </a:prstGeom>
          <a:solidFill>
            <a:srgbClr val="0B3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 name="Picture 4" descr="novira-logo.png"/>
          <p:cNvPicPr>
            <a:picLocks noChangeAspect="1"/>
          </p:cNvPicPr>
          <p:nvPr/>
        </p:nvPicPr>
        <p:blipFill>
          <a:blip r:embed="rId2"/>
          <a:stretch>
            <a:fillRect/>
          </a:stretch>
        </p:blipFill>
        <p:spPr>
          <a:xfrm>
            <a:off x="8549640" y="1874519"/>
            <a:ext cx="2118903" cy="2103120"/>
          </a:xfrm>
          <a:prstGeom prst="rect">
            <a:avLst/>
          </a:prstGeom>
        </p:spPr>
      </p:pic>
      <p:sp>
        <p:nvSpPr>
          <p:cNvPr id="6" name="TextBox 5"/>
          <p:cNvSpPr txBox="1"/>
          <p:nvPr/>
        </p:nvSpPr>
        <p:spPr>
          <a:xfrm>
            <a:off x="7452360" y="4160520"/>
            <a:ext cx="4572000" cy="1005840"/>
          </a:xfrm>
          <a:prstGeom prst="rect">
            <a:avLst/>
          </a:prstGeom>
          <a:noFill/>
        </p:spPr>
        <p:txBody>
          <a:bodyPr wrap="square" lIns="0" rIns="0" tIns="0" bIns="0" anchor="t">
            <a:spAutoFit/>
          </a:bodyPr>
          <a:lstStyle/>
          <a:p>
            <a:pPr algn="ctr">
              <a:lnSpc>
                <a:spcPct val="115000"/>
              </a:lnSpc>
              <a:spcBef>
                <a:spcPts val="0"/>
              </a:spcBef>
              <a:spcAft>
                <a:spcPts val="0"/>
              </a:spcAft>
            </a:pPr>
            <a:r>
              <a:rPr sz="2000" b="1" i="0">
                <a:solidFill>
                  <a:srgbClr val="35A46F"/>
                </a:solidFill>
                <a:latin typeface="Trebuchet MS"/>
              </a:rPr>
              <a:t>Detect Today,
Keep Tomorrow</a:t>
            </a:r>
          </a:p>
        </p:txBody>
      </p:sp>
      <p:sp>
        <p:nvSpPr>
          <p:cNvPr id="7" name="TextBox 6"/>
          <p:cNvSpPr txBox="1"/>
          <p:nvPr/>
        </p:nvSpPr>
        <p:spPr>
          <a:xfrm>
            <a:off x="658368" y="1572768"/>
            <a:ext cx="6309360" cy="27432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Presentasi Karya · Dewan Juri</a:t>
            </a:r>
          </a:p>
        </p:txBody>
      </p:sp>
      <p:sp>
        <p:nvSpPr>
          <p:cNvPr id="8" name="TextBox 7"/>
          <p:cNvSpPr txBox="1"/>
          <p:nvPr/>
        </p:nvSpPr>
        <p:spPr>
          <a:xfrm>
            <a:off x="658368" y="1956816"/>
            <a:ext cx="6400800" cy="1371600"/>
          </a:xfrm>
          <a:prstGeom prst="rect">
            <a:avLst/>
          </a:prstGeom>
          <a:noFill/>
        </p:spPr>
        <p:txBody>
          <a:bodyPr wrap="square" lIns="0" rIns="0" tIns="0" bIns="0" anchor="t">
            <a:spAutoFit/>
          </a:bodyPr>
          <a:lstStyle/>
          <a:p>
            <a:pPr algn="l">
              <a:lnSpc>
                <a:spcPct val="100000"/>
              </a:lnSpc>
              <a:spcBef>
                <a:spcPts val="0"/>
              </a:spcBef>
              <a:spcAft>
                <a:spcPts val="0"/>
              </a:spcAft>
            </a:pPr>
            <a:r>
              <a:rPr sz="6200" b="1" i="0">
                <a:solidFill>
                  <a:srgbClr val="FFFFFF"/>
                </a:solidFill>
                <a:latin typeface="Trebuchet MS"/>
              </a:rPr>
              <a:t>NOVIRA</a:t>
            </a:r>
          </a:p>
        </p:txBody>
      </p:sp>
      <p:sp>
        <p:nvSpPr>
          <p:cNvPr id="9" name="TextBox 8"/>
          <p:cNvSpPr txBox="1"/>
          <p:nvPr/>
        </p:nvSpPr>
        <p:spPr>
          <a:xfrm>
            <a:off x="658368" y="2999232"/>
            <a:ext cx="6217920" cy="1097280"/>
          </a:xfrm>
          <a:prstGeom prst="rect">
            <a:avLst/>
          </a:prstGeom>
          <a:noFill/>
        </p:spPr>
        <p:txBody>
          <a:bodyPr wrap="square" lIns="0" rIns="0" tIns="0" bIns="0" anchor="t">
            <a:spAutoFit/>
          </a:bodyPr>
          <a:lstStyle/>
          <a:p>
            <a:pPr algn="l">
              <a:lnSpc>
                <a:spcPct val="130000"/>
              </a:lnSpc>
              <a:spcBef>
                <a:spcPts val="0"/>
              </a:spcBef>
              <a:spcAft>
                <a:spcPts val="0"/>
              </a:spcAft>
            </a:pPr>
            <a:r>
              <a:rPr sz="1700" b="0" i="0">
                <a:solidFill>
                  <a:srgbClr val="E8F3EC"/>
                </a:solidFill>
                <a:latin typeface="Trebuchet MS"/>
              </a:rPr>
              <a:t>Sistem Monitoring &amp; Deteksi Sampah Jalanan
Berbasis CCTV dan Artificial Intelligence</a:t>
            </a:r>
          </a:p>
        </p:txBody>
      </p:sp>
      <p:sp>
        <p:nvSpPr>
          <p:cNvPr id="10" name="Rectangle 9"/>
          <p:cNvSpPr/>
          <p:nvPr/>
        </p:nvSpPr>
        <p:spPr>
          <a:xfrm>
            <a:off x="658368" y="4041648"/>
            <a:ext cx="914400" cy="36576"/>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58368" y="4279392"/>
            <a:ext cx="6217920" cy="914400"/>
          </a:xfrm>
          <a:prstGeom prst="rect">
            <a:avLst/>
          </a:prstGeom>
          <a:noFill/>
        </p:spPr>
        <p:txBody>
          <a:bodyPr wrap="square" lIns="0" rIns="0" tIns="0" bIns="0" anchor="t">
            <a:spAutoFit/>
          </a:bodyPr>
          <a:lstStyle/>
          <a:p>
            <a:pPr algn="l">
              <a:lnSpc>
                <a:spcPct val="112000"/>
              </a:lnSpc>
              <a:spcBef>
                <a:spcPts val="0"/>
              </a:spcBef>
              <a:spcAft>
                <a:spcPts val="600"/>
              </a:spcAft>
            </a:pPr>
            <a:r>
              <a:rPr sz="1250" b="1" i="0">
                <a:solidFill>
                  <a:srgbClr val="35A46F"/>
                </a:solidFill>
                <a:latin typeface="Trebuchet MS"/>
              </a:rPr>
              <a:t>Nature · Vision · Response · Action</a:t>
            </a:r>
          </a:p>
          <a:p>
            <a:pPr algn="l">
              <a:lnSpc>
                <a:spcPct val="112000"/>
              </a:lnSpc>
              <a:spcBef>
                <a:spcPts val="0"/>
              </a:spcBef>
              <a:spcAft>
                <a:spcPts val="400"/>
              </a:spcAft>
            </a:pPr>
            <a:r>
              <a:rPr sz="1150" b="0" i="0">
                <a:solidFill>
                  <a:srgbClr val="E8F3EC"/>
                </a:solidFill>
                <a:latin typeface="Arial"/>
              </a:rPr>
              <a:t>Studi kasus: 290 kamera ATCS Kota Bandung — 27 dari 30 kecamatan</a:t>
            </a:r>
          </a:p>
        </p:txBody>
      </p:sp>
      <p:sp>
        <p:nvSpPr>
          <p:cNvPr id="12" name="TextBox 11"/>
          <p:cNvSpPr txBox="1"/>
          <p:nvPr/>
        </p:nvSpPr>
        <p:spPr>
          <a:xfrm>
            <a:off x="658368" y="5897880"/>
            <a:ext cx="6217920" cy="457200"/>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8FB3A0"/>
                </a:solidFill>
                <a:latin typeface="Arial"/>
              </a:rPr>
              <a:t>Deteksi otomatis · Timer SLA berjenjang · Prioritas 0–100 yang dapat dijelaskan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Ringkasan</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Satu halaman untuk juri</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Apa yang dibangun, apa yang sudah terbukti, dan apa yang kami temukan dengan jujur.</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02 / 37</a:t>
            </a:r>
          </a:p>
        </p:txBody>
      </p:sp>
      <p:sp>
        <p:nvSpPr>
          <p:cNvPr id="9" name="Rounded Rectangle 8"/>
          <p:cNvSpPr/>
          <p:nvPr/>
        </p:nvSpPr>
        <p:spPr>
          <a:xfrm>
            <a:off x="658368" y="1847088"/>
            <a:ext cx="199942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1993392"/>
            <a:ext cx="159709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290</a:t>
            </a:r>
          </a:p>
        </p:txBody>
      </p:sp>
      <p:sp>
        <p:nvSpPr>
          <p:cNvPr id="11" name="TextBox 10"/>
          <p:cNvSpPr txBox="1"/>
          <p:nvPr/>
        </p:nvSpPr>
        <p:spPr>
          <a:xfrm>
            <a:off x="859536" y="2450592"/>
            <a:ext cx="159709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Kamera terverifikasi</a:t>
            </a:r>
          </a:p>
        </p:txBody>
      </p:sp>
      <p:sp>
        <p:nvSpPr>
          <p:cNvPr id="12" name="TextBox 11"/>
          <p:cNvSpPr txBox="1"/>
          <p:nvPr/>
        </p:nvSpPr>
        <p:spPr>
          <a:xfrm>
            <a:off x="859536" y="2670048"/>
            <a:ext cx="159709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aktif dari 377 kamera terdaftar</a:t>
            </a:r>
          </a:p>
        </p:txBody>
      </p:sp>
      <p:sp>
        <p:nvSpPr>
          <p:cNvPr id="13" name="Rounded Rectangle 12"/>
          <p:cNvSpPr/>
          <p:nvPr/>
        </p:nvSpPr>
        <p:spPr>
          <a:xfrm>
            <a:off x="2877251" y="1847088"/>
            <a:ext cx="199942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78419" y="1993392"/>
            <a:ext cx="159709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27/30</a:t>
            </a:r>
          </a:p>
        </p:txBody>
      </p:sp>
      <p:sp>
        <p:nvSpPr>
          <p:cNvPr id="15" name="TextBox 14"/>
          <p:cNvSpPr txBox="1"/>
          <p:nvPr/>
        </p:nvSpPr>
        <p:spPr>
          <a:xfrm>
            <a:off x="3078419" y="2450592"/>
            <a:ext cx="159709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Kecamatan terpantau</a:t>
            </a:r>
          </a:p>
        </p:txBody>
      </p:sp>
      <p:sp>
        <p:nvSpPr>
          <p:cNvPr id="16" name="TextBox 15"/>
          <p:cNvSpPr txBox="1"/>
          <p:nvPr/>
        </p:nvSpPr>
        <p:spPr>
          <a:xfrm>
            <a:off x="3078419" y="2670048"/>
            <a:ext cx="159709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3 kecamatan tanpa kamera aktif</a:t>
            </a:r>
          </a:p>
        </p:txBody>
      </p:sp>
      <p:sp>
        <p:nvSpPr>
          <p:cNvPr id="17" name="Rounded Rectangle 16"/>
          <p:cNvSpPr/>
          <p:nvPr/>
        </p:nvSpPr>
        <p:spPr>
          <a:xfrm>
            <a:off x="5096134" y="1847088"/>
            <a:ext cx="199942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297302" y="1993392"/>
            <a:ext cx="159709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0,77</a:t>
            </a:r>
          </a:p>
        </p:txBody>
      </p:sp>
      <p:sp>
        <p:nvSpPr>
          <p:cNvPr id="19" name="TextBox 18"/>
          <p:cNvSpPr txBox="1"/>
          <p:nvPr/>
        </p:nvSpPr>
        <p:spPr>
          <a:xfrm>
            <a:off x="5297302" y="2450592"/>
            <a:ext cx="159709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AP50 model street</a:t>
            </a:r>
          </a:p>
        </p:txBody>
      </p:sp>
      <p:sp>
        <p:nvSpPr>
          <p:cNvPr id="20" name="TextBox 19"/>
          <p:cNvSpPr txBox="1"/>
          <p:nvPr/>
        </p:nvSpPr>
        <p:spPr>
          <a:xfrm>
            <a:off x="5297302" y="2670048"/>
            <a:ext cx="159709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pada dataset asalnya</a:t>
            </a:r>
          </a:p>
        </p:txBody>
      </p:sp>
      <p:sp>
        <p:nvSpPr>
          <p:cNvPr id="21" name="Rounded Rectangle 20"/>
          <p:cNvSpPr/>
          <p:nvPr/>
        </p:nvSpPr>
        <p:spPr>
          <a:xfrm>
            <a:off x="7315017" y="1847088"/>
            <a:ext cx="199942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516185" y="1993392"/>
            <a:ext cx="159709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57%</a:t>
            </a:r>
          </a:p>
        </p:txBody>
      </p:sp>
      <p:sp>
        <p:nvSpPr>
          <p:cNvPr id="23" name="TextBox 22"/>
          <p:cNvSpPr txBox="1"/>
          <p:nvPr/>
        </p:nvSpPr>
        <p:spPr>
          <a:xfrm>
            <a:off x="7516185" y="2450592"/>
            <a:ext cx="159709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False positive</a:t>
            </a:r>
          </a:p>
        </p:txBody>
      </p:sp>
      <p:sp>
        <p:nvSpPr>
          <p:cNvPr id="24" name="TextBox 23"/>
          <p:cNvSpPr txBox="1"/>
          <p:nvPr/>
        </p:nvSpPr>
        <p:spPr>
          <a:xfrm>
            <a:off x="7516185" y="2670048"/>
            <a:ext cx="159709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saat diuji pada CCTV Bandung</a:t>
            </a:r>
          </a:p>
        </p:txBody>
      </p:sp>
      <p:sp>
        <p:nvSpPr>
          <p:cNvPr id="25" name="Rounded Rectangle 24"/>
          <p:cNvSpPr/>
          <p:nvPr/>
        </p:nvSpPr>
        <p:spPr>
          <a:xfrm>
            <a:off x="9533900" y="1847088"/>
            <a:ext cx="199942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735068" y="1993392"/>
            <a:ext cx="159709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137</a:t>
            </a:r>
          </a:p>
        </p:txBody>
      </p:sp>
      <p:sp>
        <p:nvSpPr>
          <p:cNvPr id="27" name="TextBox 26"/>
          <p:cNvSpPr txBox="1"/>
          <p:nvPr/>
        </p:nvSpPr>
        <p:spPr>
          <a:xfrm>
            <a:off x="9735068" y="2450592"/>
            <a:ext cx="159709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Unit test lulus</a:t>
            </a:r>
          </a:p>
        </p:txBody>
      </p:sp>
      <p:sp>
        <p:nvSpPr>
          <p:cNvPr id="28" name="TextBox 27"/>
          <p:cNvSpPr txBox="1"/>
          <p:nvPr/>
        </p:nvSpPr>
        <p:spPr>
          <a:xfrm>
            <a:off x="9735068" y="2670048"/>
            <a:ext cx="159709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dari 18 berkas uji + E2E</a:t>
            </a:r>
          </a:p>
        </p:txBody>
      </p:sp>
      <p:sp>
        <p:nvSpPr>
          <p:cNvPr id="29" name="Rounded Rectangle 28"/>
          <p:cNvSpPr/>
          <p:nvPr/>
        </p:nvSpPr>
        <p:spPr>
          <a:xfrm>
            <a:off x="658368" y="3346704"/>
            <a:ext cx="3454298"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3346704"/>
            <a:ext cx="50292" cy="148132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6112" y="352044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Bukan berhenti di bounding box</a:t>
            </a:r>
          </a:p>
        </p:txBody>
      </p:sp>
      <p:sp>
        <p:nvSpPr>
          <p:cNvPr id="32" name="TextBox 31"/>
          <p:cNvSpPr txBox="1"/>
          <p:nvPr/>
        </p:nvSpPr>
        <p:spPr>
          <a:xfrm>
            <a:off x="896112" y="3886200"/>
            <a:ext cx="2997098"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Rantai penuh: deteksi → persistensi → durasi → incident → bukti → prioritas → penugasan → SLA → evaluasi.</a:t>
            </a:r>
          </a:p>
        </p:txBody>
      </p:sp>
      <p:sp>
        <p:nvSpPr>
          <p:cNvPr id="33" name="Rounded Rectangle 32"/>
          <p:cNvSpPr/>
          <p:nvPr/>
        </p:nvSpPr>
        <p:spPr>
          <a:xfrm>
            <a:off x="4368698" y="3346704"/>
            <a:ext cx="3454298"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368698" y="3346704"/>
            <a:ext cx="50292" cy="1481328"/>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606442" y="352044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AI menyaring, manusia memutuskan</a:t>
            </a:r>
          </a:p>
        </p:txBody>
      </p:sp>
      <p:sp>
        <p:nvSpPr>
          <p:cNvPr id="36" name="TextBox 35"/>
          <p:cNvSpPr txBox="1"/>
          <p:nvPr/>
        </p:nvSpPr>
        <p:spPr>
          <a:xfrm>
            <a:off x="4606442" y="3886200"/>
            <a:ext cx="2997098"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Tidak ada satu jalur pun yang mengubah status kejadian secara otomatis. Setiap perubahan tercatat di audit log.</a:t>
            </a:r>
          </a:p>
        </p:txBody>
      </p:sp>
      <p:sp>
        <p:nvSpPr>
          <p:cNvPr id="37" name="Rounded Rectangle 36"/>
          <p:cNvSpPr/>
          <p:nvPr/>
        </p:nvSpPr>
        <p:spPr>
          <a:xfrm>
            <a:off x="8079028" y="3346704"/>
            <a:ext cx="3454298"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8079028" y="3346704"/>
            <a:ext cx="50292" cy="1481328"/>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316772" y="352044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Temuan jujur sebagai hasil riset</a:t>
            </a:r>
          </a:p>
        </p:txBody>
      </p:sp>
      <p:sp>
        <p:nvSpPr>
          <p:cNvPr id="40" name="TextBox 39"/>
          <p:cNvSpPr txBox="1"/>
          <p:nvPr/>
        </p:nvSpPr>
        <p:spPr>
          <a:xfrm>
            <a:off x="8316772" y="3886200"/>
            <a:ext cx="2997098"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Model publik belum layak untuk CCTV Bandung. Angkanya kami ukur sendiri dan jadi dasar rancangan fine-tuning.</a:t>
            </a:r>
          </a:p>
        </p:txBody>
      </p:sp>
      <p:sp>
        <p:nvSpPr>
          <p:cNvPr id="41" name="Rounded Rectangle 40"/>
          <p:cNvSpPr/>
          <p:nvPr/>
        </p:nvSpPr>
        <p:spPr>
          <a:xfrm>
            <a:off x="658368" y="5148072"/>
            <a:ext cx="10874959"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58368" y="5148072"/>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96112" y="5303520"/>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Posisi karya</a:t>
            </a:r>
          </a:p>
        </p:txBody>
      </p:sp>
      <p:sp>
        <p:nvSpPr>
          <p:cNvPr id="44" name="TextBox 43"/>
          <p:cNvSpPr txBox="1"/>
          <p:nvPr/>
        </p:nvSpPr>
        <p:spPr>
          <a:xfrm>
            <a:off x="896112" y="5568696"/>
            <a:ext cx="1041775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NOVIRA mengubah CCTV yang sudah terpasang menjadi sensor kebersihan kota — tanpa memasang satu perangkat baru pun. Nilainya bukan pada deteksinya semata, melainkan pada tindakan terukur yang mengikutinya.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Alur presentasi</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Agenda</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03 / 37</a:t>
            </a:r>
          </a:p>
        </p:txBody>
      </p:sp>
      <p:sp>
        <p:nvSpPr>
          <p:cNvPr id="8" name="Rounded Rectangle 7"/>
          <p:cNvSpPr/>
          <p:nvPr/>
        </p:nvSpPr>
        <p:spPr>
          <a:xfrm>
            <a:off x="658368" y="1389888"/>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1389888"/>
            <a:ext cx="50292" cy="10972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14400" y="1572768"/>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01</a:t>
            </a:r>
          </a:p>
        </p:txBody>
      </p:sp>
      <p:sp>
        <p:nvSpPr>
          <p:cNvPr id="11" name="TextBox 10"/>
          <p:cNvSpPr txBox="1"/>
          <p:nvPr/>
        </p:nvSpPr>
        <p:spPr>
          <a:xfrm>
            <a:off x="1572768" y="1591056"/>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Latar Belakang &amp; Akar Masalah</a:t>
            </a:r>
          </a:p>
        </p:txBody>
      </p:sp>
      <p:sp>
        <p:nvSpPr>
          <p:cNvPr id="12" name="TextBox 11"/>
          <p:cNvSpPr txBox="1"/>
          <p:nvPr/>
        </p:nvSpPr>
        <p:spPr>
          <a:xfrm>
            <a:off x="1572768" y="1901952"/>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Data nasional, kondisi lapangan, dan mengapa durasi menjadi variabel kunci.</a:t>
            </a:r>
          </a:p>
        </p:txBody>
      </p:sp>
      <p:sp>
        <p:nvSpPr>
          <p:cNvPr id="13" name="Rounded Rectangle 12"/>
          <p:cNvSpPr/>
          <p:nvPr/>
        </p:nvSpPr>
        <p:spPr>
          <a:xfrm>
            <a:off x="6196431" y="1389888"/>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196431" y="1389888"/>
            <a:ext cx="50292" cy="109728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52463" y="1572768"/>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02</a:t>
            </a:r>
          </a:p>
        </p:txBody>
      </p:sp>
      <p:sp>
        <p:nvSpPr>
          <p:cNvPr id="16" name="TextBox 15"/>
          <p:cNvSpPr txBox="1"/>
          <p:nvPr/>
        </p:nvSpPr>
        <p:spPr>
          <a:xfrm>
            <a:off x="7110831" y="1591056"/>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Landasan &amp; Referensi Jurnal</a:t>
            </a:r>
          </a:p>
        </p:txBody>
      </p:sp>
      <p:sp>
        <p:nvSpPr>
          <p:cNvPr id="17" name="TextBox 16"/>
          <p:cNvSpPr txBox="1"/>
          <p:nvPr/>
        </p:nvSpPr>
        <p:spPr>
          <a:xfrm>
            <a:off x="7110831" y="1901952"/>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Landasan teori, 21 rujukan, dan tiga research gap yang dijawab.</a:t>
            </a:r>
          </a:p>
        </p:txBody>
      </p:sp>
      <p:sp>
        <p:nvSpPr>
          <p:cNvPr id="18" name="Rounded Rectangle 17"/>
          <p:cNvSpPr/>
          <p:nvPr/>
        </p:nvSpPr>
        <p:spPr>
          <a:xfrm>
            <a:off x="658368" y="2633472"/>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2633472"/>
            <a:ext cx="50292" cy="10972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14400" y="2816352"/>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03</a:t>
            </a:r>
          </a:p>
        </p:txBody>
      </p:sp>
      <p:sp>
        <p:nvSpPr>
          <p:cNvPr id="21" name="TextBox 20"/>
          <p:cNvSpPr txBox="1"/>
          <p:nvPr/>
        </p:nvSpPr>
        <p:spPr>
          <a:xfrm>
            <a:off x="1572768" y="2834640"/>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Mengapa Kami Memilih Ini</a:t>
            </a:r>
          </a:p>
        </p:txBody>
      </p:sp>
      <p:sp>
        <p:nvSpPr>
          <p:cNvPr id="22" name="TextBox 21"/>
          <p:cNvSpPr txBox="1"/>
          <p:nvPr/>
        </p:nvSpPr>
        <p:spPr>
          <a:xfrm>
            <a:off x="1572768" y="3145536"/>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Peluang infrastruktur, dampak, dan celah yang belum terisi.</a:t>
            </a:r>
          </a:p>
        </p:txBody>
      </p:sp>
      <p:sp>
        <p:nvSpPr>
          <p:cNvPr id="23" name="Rounded Rectangle 22"/>
          <p:cNvSpPr/>
          <p:nvPr/>
        </p:nvSpPr>
        <p:spPr>
          <a:xfrm>
            <a:off x="6196431" y="2633472"/>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196431" y="2633472"/>
            <a:ext cx="50292" cy="109728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52463" y="2816352"/>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04</a:t>
            </a:r>
          </a:p>
        </p:txBody>
      </p:sp>
      <p:sp>
        <p:nvSpPr>
          <p:cNvPr id="26" name="TextBox 25"/>
          <p:cNvSpPr txBox="1"/>
          <p:nvPr/>
        </p:nvSpPr>
        <p:spPr>
          <a:xfrm>
            <a:off x="7110831" y="2834640"/>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Solusi &amp; Alur Sistem</a:t>
            </a:r>
          </a:p>
        </p:txBody>
      </p:sp>
      <p:sp>
        <p:nvSpPr>
          <p:cNvPr id="27" name="TextBox 26"/>
          <p:cNvSpPr txBox="1"/>
          <p:nvPr/>
        </p:nvSpPr>
        <p:spPr>
          <a:xfrm>
            <a:off x="7110831" y="3145536"/>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Arsitektur, alur end-to-end, mesin prioritas, dan eskalasi SLA.</a:t>
            </a:r>
          </a:p>
        </p:txBody>
      </p:sp>
      <p:sp>
        <p:nvSpPr>
          <p:cNvPr id="28" name="Rounded Rectangle 27"/>
          <p:cNvSpPr/>
          <p:nvPr/>
        </p:nvSpPr>
        <p:spPr>
          <a:xfrm>
            <a:off x="658368" y="3877056"/>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3877056"/>
            <a:ext cx="50292" cy="10972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14400" y="4059936"/>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05</a:t>
            </a:r>
          </a:p>
        </p:txBody>
      </p:sp>
      <p:sp>
        <p:nvSpPr>
          <p:cNvPr id="31" name="TextBox 30"/>
          <p:cNvSpPr txBox="1"/>
          <p:nvPr/>
        </p:nvSpPr>
        <p:spPr>
          <a:xfrm>
            <a:off x="1572768" y="4078224"/>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AI &amp; Machine Learning</a:t>
            </a:r>
          </a:p>
        </p:txBody>
      </p:sp>
      <p:sp>
        <p:nvSpPr>
          <p:cNvPr id="32" name="TextBox 31"/>
          <p:cNvSpPr txBox="1"/>
          <p:nvPr/>
        </p:nvSpPr>
        <p:spPr>
          <a:xfrm>
            <a:off x="1572768" y="4389120"/>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Model, pipeline inferensi, hasil pengujian, dan cara kami melatihnya.</a:t>
            </a:r>
          </a:p>
        </p:txBody>
      </p:sp>
      <p:sp>
        <p:nvSpPr>
          <p:cNvPr id="33" name="Rounded Rectangle 32"/>
          <p:cNvSpPr/>
          <p:nvPr/>
        </p:nvSpPr>
        <p:spPr>
          <a:xfrm>
            <a:off x="6196431" y="3877056"/>
            <a:ext cx="5336895" cy="109728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196431" y="3877056"/>
            <a:ext cx="50292" cy="109728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52463" y="4059936"/>
            <a:ext cx="640080" cy="365760"/>
          </a:xfrm>
          <a:prstGeom prst="rect">
            <a:avLst/>
          </a:prstGeom>
          <a:noFill/>
        </p:spPr>
        <p:txBody>
          <a:bodyPr wrap="square" lIns="0" rIns="0" tIns="0" bIns="0" anchor="t">
            <a:spAutoFit/>
          </a:bodyPr>
          <a:lstStyle/>
          <a:p>
            <a:pPr algn="l">
              <a:lnSpc>
                <a:spcPct val="112000"/>
              </a:lnSpc>
              <a:spcBef>
                <a:spcPts val="0"/>
              </a:spcBef>
              <a:spcAft>
                <a:spcPts val="0"/>
              </a:spcAft>
            </a:pPr>
            <a:r>
              <a:rPr sz="2200" b="1" i="0">
                <a:solidFill>
                  <a:srgbClr val="E8F3EC"/>
                </a:solidFill>
                <a:latin typeface="Trebuchet MS"/>
              </a:rPr>
              <a:t>06</a:t>
            </a:r>
          </a:p>
        </p:txBody>
      </p:sp>
      <p:sp>
        <p:nvSpPr>
          <p:cNvPr id="36" name="TextBox 35"/>
          <p:cNvSpPr txBox="1"/>
          <p:nvPr/>
        </p:nvSpPr>
        <p:spPr>
          <a:xfrm>
            <a:off x="7110831" y="4078224"/>
            <a:ext cx="4148175" cy="274320"/>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2419"/>
                </a:solidFill>
                <a:latin typeface="Trebuchet MS"/>
              </a:rPr>
              <a:t>Kendala &amp; Keterbatasan</a:t>
            </a:r>
          </a:p>
        </p:txBody>
      </p:sp>
      <p:sp>
        <p:nvSpPr>
          <p:cNvPr id="37" name="TextBox 36"/>
          <p:cNvSpPr txBox="1"/>
          <p:nvPr/>
        </p:nvSpPr>
        <p:spPr>
          <a:xfrm>
            <a:off x="7110831" y="4389120"/>
            <a:ext cx="4148175" cy="45720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5F7568"/>
                </a:solidFill>
                <a:latin typeface="Arial"/>
              </a:rPr>
              <a:t>Tujuh kendala lapangan, edge case, dan batas sistem yang kami akui.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86968" y="1874519"/>
            <a:ext cx="6035040" cy="64008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BAGIAN 01</a:t>
            </a:r>
          </a:p>
        </p:txBody>
      </p:sp>
      <p:sp>
        <p:nvSpPr>
          <p:cNvPr id="5" name="TextBox 4"/>
          <p:cNvSpPr txBox="1"/>
          <p:nvPr/>
        </p:nvSpPr>
        <p:spPr>
          <a:xfrm>
            <a:off x="886968" y="2212848"/>
            <a:ext cx="7498079" cy="109728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Trebuchet MS"/>
              </a:rPr>
              <a:t>Latar Belakang
&amp; Akar Masalah</a:t>
            </a:r>
          </a:p>
        </p:txBody>
      </p:sp>
      <p:sp>
        <p:nvSpPr>
          <p:cNvPr id="6" name="TextBox 5"/>
          <p:cNvSpPr txBox="1"/>
          <p:nvPr/>
        </p:nvSpPr>
        <p:spPr>
          <a:xfrm>
            <a:off x="886968" y="3520440"/>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E8F3EC"/>
                </a:solidFill>
                <a:latin typeface="Arial"/>
              </a:rPr>
              <a:t>Sampah di ruang publik jarang tidak terlihat. Yang tidak ada adalah catatan sejak kapan ia ada di sana.</a:t>
            </a:r>
          </a:p>
        </p:txBody>
      </p:sp>
      <p:sp>
        <p:nvSpPr>
          <p:cNvPr id="7" name="Rounded Rectangle 6"/>
          <p:cNvSpPr/>
          <p:nvPr/>
        </p:nvSpPr>
        <p:spPr>
          <a:xfrm>
            <a:off x="7680960" y="2340864"/>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73568" y="2231136"/>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56,63 juta ton timbulan sampah nasional (2023)</a:t>
            </a:r>
          </a:p>
        </p:txBody>
      </p:sp>
      <p:sp>
        <p:nvSpPr>
          <p:cNvPr id="9" name="Rounded Rectangle 8"/>
          <p:cNvSpPr/>
          <p:nvPr/>
        </p:nvSpPr>
        <p:spPr>
          <a:xfrm>
            <a:off x="7680960" y="2907792"/>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73568" y="2798064"/>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Hanya 39,01% terkelola secara layak</a:t>
            </a:r>
          </a:p>
        </p:txBody>
      </p:sp>
      <p:sp>
        <p:nvSpPr>
          <p:cNvPr id="11" name="Rounded Rectangle 10"/>
          <p:cNvSpPr/>
          <p:nvPr/>
        </p:nvSpPr>
        <p:spPr>
          <a:xfrm>
            <a:off x="7680960" y="3474720"/>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73568" y="3364992"/>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Indeks Kebersihan Kota nasional: 70/100</a:t>
            </a:r>
          </a:p>
        </p:txBody>
      </p:sp>
      <p:sp>
        <p:nvSpPr>
          <p:cNvPr id="13" name="Rounded Rectangle 12"/>
          <p:cNvSpPr/>
          <p:nvPr/>
        </p:nvSpPr>
        <p:spPr>
          <a:xfrm>
            <a:off x="7680960" y="4041647"/>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73568" y="3931919"/>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Ratusan kamera ATCS tidak mungkin diawasi manual</a:t>
            </a:r>
          </a:p>
        </p:txBody>
      </p:sp>
      <p:sp>
        <p:nvSpPr>
          <p:cNvPr id="15" name="TextBox 14"/>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35A46F"/>
                </a:solidFill>
                <a:latin typeface="Trebuchet MS"/>
              </a:rPr>
              <a:t>NOVIRA · Detect Today, Keep Tomorrow</a:t>
            </a:r>
          </a:p>
        </p:txBody>
      </p:sp>
      <p:sp>
        <p:nvSpPr>
          <p:cNvPr id="16" name="TextBox 15"/>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Latar belakang</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Angkanya besar, catatannya tidak ada</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Sumber: SIPSN KLHK (2023) dan Indonesia Most Livable City Index (IAP, 2022).</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05 / 37</a:t>
            </a:r>
          </a:p>
        </p:txBody>
      </p:sp>
      <p:sp>
        <p:nvSpPr>
          <p:cNvPr id="9" name="Rounded Rectangle 8"/>
          <p:cNvSpPr/>
          <p:nvPr/>
        </p:nvSpPr>
        <p:spPr>
          <a:xfrm>
            <a:off x="658368"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56,63 jt ton</a:t>
            </a:r>
          </a:p>
        </p:txBody>
      </p:sp>
      <p:sp>
        <p:nvSpPr>
          <p:cNvPr id="11" name="TextBox 10"/>
          <p:cNvSpPr txBox="1"/>
          <p:nvPr/>
        </p:nvSpPr>
        <p:spPr>
          <a:xfrm>
            <a:off x="859536"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Timbulan sampah nasional</a:t>
            </a:r>
          </a:p>
        </p:txBody>
      </p:sp>
      <p:sp>
        <p:nvSpPr>
          <p:cNvPr id="12" name="TextBox 11"/>
          <p:cNvSpPr txBox="1"/>
          <p:nvPr/>
        </p:nvSpPr>
        <p:spPr>
          <a:xfrm>
            <a:off x="859536"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SIPSN KLHK, tahun 2023</a:t>
            </a:r>
          </a:p>
        </p:txBody>
      </p:sp>
      <p:sp>
        <p:nvSpPr>
          <p:cNvPr id="13" name="Rounded Rectangle 12"/>
          <p:cNvSpPr/>
          <p:nvPr/>
        </p:nvSpPr>
        <p:spPr>
          <a:xfrm>
            <a:off x="3431971"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33139"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39,01%</a:t>
            </a:r>
          </a:p>
        </p:txBody>
      </p:sp>
      <p:sp>
        <p:nvSpPr>
          <p:cNvPr id="15" name="TextBox 14"/>
          <p:cNvSpPr txBox="1"/>
          <p:nvPr/>
        </p:nvSpPr>
        <p:spPr>
          <a:xfrm>
            <a:off x="3633139"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Terkelola layak</a:t>
            </a:r>
          </a:p>
        </p:txBody>
      </p:sp>
      <p:sp>
        <p:nvSpPr>
          <p:cNvPr id="16" name="TextBox 15"/>
          <p:cNvSpPr txBox="1"/>
          <p:nvPr/>
        </p:nvSpPr>
        <p:spPr>
          <a:xfrm>
            <a:off x="3633139"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22,09 juta ton dari total timbulan</a:t>
            </a:r>
          </a:p>
        </p:txBody>
      </p:sp>
      <p:sp>
        <p:nvSpPr>
          <p:cNvPr id="17" name="Rounded Rectangle 16"/>
          <p:cNvSpPr/>
          <p:nvPr/>
        </p:nvSpPr>
        <p:spPr>
          <a:xfrm>
            <a:off x="6205575"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6743"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60,99%</a:t>
            </a:r>
          </a:p>
        </p:txBody>
      </p:sp>
      <p:sp>
        <p:nvSpPr>
          <p:cNvPr id="19" name="TextBox 18"/>
          <p:cNvSpPr txBox="1"/>
          <p:nvPr/>
        </p:nvSpPr>
        <p:spPr>
          <a:xfrm>
            <a:off x="6406743"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Belum terkelola baik</a:t>
            </a:r>
          </a:p>
        </p:txBody>
      </p:sp>
      <p:sp>
        <p:nvSpPr>
          <p:cNvPr id="20" name="TextBox 19"/>
          <p:cNvSpPr txBox="1"/>
          <p:nvPr/>
        </p:nvSpPr>
        <p:spPr>
          <a:xfrm>
            <a:off x="6406743"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mayoritas open dumping di TPA</a:t>
            </a:r>
          </a:p>
        </p:txBody>
      </p:sp>
      <p:sp>
        <p:nvSpPr>
          <p:cNvPr id="21" name="Rounded Rectangle 20"/>
          <p:cNvSpPr/>
          <p:nvPr/>
        </p:nvSpPr>
        <p:spPr>
          <a:xfrm>
            <a:off x="8979179"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180347"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70 / 66</a:t>
            </a:r>
          </a:p>
        </p:txBody>
      </p:sp>
      <p:sp>
        <p:nvSpPr>
          <p:cNvPr id="23" name="TextBox 22"/>
          <p:cNvSpPr txBox="1"/>
          <p:nvPr/>
        </p:nvSpPr>
        <p:spPr>
          <a:xfrm>
            <a:off x="9180347"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MLCI kebersihan / persampahan</a:t>
            </a:r>
          </a:p>
        </p:txBody>
      </p:sp>
      <p:sp>
        <p:nvSpPr>
          <p:cNvPr id="24" name="TextBox 23"/>
          <p:cNvSpPr txBox="1"/>
          <p:nvPr/>
        </p:nvSpPr>
        <p:spPr>
          <a:xfrm>
            <a:off x="9180347"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skala 100 — tingkat menengah</a:t>
            </a:r>
          </a:p>
        </p:txBody>
      </p:sp>
      <p:sp>
        <p:nvSpPr>
          <p:cNvPr id="25" name="TextBox 24"/>
          <p:cNvSpPr txBox="1"/>
          <p:nvPr/>
        </p:nvSpPr>
        <p:spPr>
          <a:xfrm>
            <a:off x="658368" y="3364992"/>
            <a:ext cx="5654978" cy="2194560"/>
          </a:xfrm>
          <a:prstGeom prst="rect">
            <a:avLst/>
          </a:prstGeom>
          <a:noFill/>
        </p:spPr>
        <p:txBody>
          <a:bodyPr wrap="square" lIns="0" rIns="0" tIns="0" bIns="0" anchor="t">
            <a:spAutoFit/>
          </a:bodyPr>
          <a:lstStyle/>
          <a:p>
            <a:pPr algn="l">
              <a:lnSpc>
                <a:spcPct val="112000"/>
              </a:lnSpc>
              <a:spcBef>
                <a:spcPts val="0"/>
              </a:spcBef>
              <a:spcAft>
                <a:spcPts val="800"/>
              </a:spcAft>
            </a:pPr>
            <a:r>
              <a:rPr sz="1500" b="1" i="0">
                <a:solidFill>
                  <a:srgbClr val="0E2419"/>
                </a:solidFill>
                <a:latin typeface="Trebuchet MS"/>
              </a:rPr>
              <a:t>Yang hilang bukan datanya, tapi waktunya</a:t>
            </a:r>
          </a:p>
          <a:p>
            <a:pPr algn="l">
              <a:lnSpc>
                <a:spcPct val="132000"/>
              </a:lnSpc>
              <a:spcBef>
                <a:spcPts val="0"/>
              </a:spcBef>
              <a:spcAft>
                <a:spcPts val="800"/>
              </a:spcAft>
            </a:pPr>
            <a:r>
              <a:rPr sz="1150" b="0" i="0">
                <a:solidFill>
                  <a:srgbClr val="5F7568"/>
                </a:solidFill>
                <a:latin typeface="Arial"/>
              </a:rPr>
              <a:t>Kota umumnya baru mengetahui adanya penumpukan sampah setelah warga melapor, dan tidak ada catatan resmi berapa lama sampah itu dibiarkan.</a:t>
            </a:r>
          </a:p>
          <a:p>
            <a:pPr algn="l">
              <a:lnSpc>
                <a:spcPct val="132000"/>
              </a:lnSpc>
              <a:spcBef>
                <a:spcPts val="0"/>
              </a:spcBef>
              <a:spcAft>
                <a:spcPts val="400"/>
              </a:spcAft>
            </a:pPr>
            <a:r>
              <a:rPr sz="1150" b="0" i="0">
                <a:solidFill>
                  <a:srgbClr val="5F7568"/>
                </a:solidFill>
                <a:latin typeface="Arial"/>
              </a:rPr>
              <a:t>Padahal durasi justru variabel yang paling relevan secara operasional: </a:t>
            </a:r>
            <a:r>
              <a:rPr sz="1150" b="1" i="0">
                <a:solidFill>
                  <a:srgbClr val="0E2419"/>
                </a:solidFill>
                <a:latin typeface="Arial"/>
              </a:rPr>
              <a:t>sampah yang dibersihkan dalam satu jam tidak setara dengan sampah yang sama yang dibiarkan tiga puluh jam.</a:t>
            </a:r>
          </a:p>
        </p:txBody>
      </p:sp>
      <p:sp>
        <p:nvSpPr>
          <p:cNvPr id="26" name="Rounded Rectangle 25"/>
          <p:cNvSpPr/>
          <p:nvPr/>
        </p:nvSpPr>
        <p:spPr>
          <a:xfrm>
            <a:off x="6748345" y="3364992"/>
            <a:ext cx="4784982" cy="1243584"/>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748345" y="3364992"/>
            <a:ext cx="54864" cy="1243584"/>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986089" y="3520440"/>
            <a:ext cx="4327782"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Peluang yang sudah terpasang</a:t>
            </a:r>
          </a:p>
        </p:txBody>
      </p:sp>
      <p:sp>
        <p:nvSpPr>
          <p:cNvPr id="29" name="TextBox 28"/>
          <p:cNvSpPr txBox="1"/>
          <p:nvPr/>
        </p:nvSpPr>
        <p:spPr>
          <a:xfrm>
            <a:off x="6986089" y="3785616"/>
            <a:ext cx="4327782"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Kota Bandung mengoperasikan ratusan kamera Area Traffic Control System (ATCS) yang seluruh keluarannya tidak mungkin diawasi satu per satu oleh operator. Infrastruktur penglihatannya sudah ada — yang belum ada adalah mesin yang membacanya terus-menerus.</a:t>
            </a:r>
          </a:p>
        </p:txBody>
      </p:sp>
      <p:sp>
        <p:nvSpPr>
          <p:cNvPr id="30" name="Rounded Rectangle 29"/>
          <p:cNvSpPr/>
          <p:nvPr/>
        </p:nvSpPr>
        <p:spPr>
          <a:xfrm>
            <a:off x="6748345" y="4846320"/>
            <a:ext cx="4784982" cy="905256"/>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748345" y="4846320"/>
            <a:ext cx="54864" cy="905256"/>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86089" y="5001768"/>
            <a:ext cx="4327782"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Konsekuensinya</a:t>
            </a:r>
          </a:p>
        </p:txBody>
      </p:sp>
      <p:sp>
        <p:nvSpPr>
          <p:cNvPr id="33" name="TextBox 32"/>
          <p:cNvSpPr txBox="1"/>
          <p:nvPr/>
        </p:nvSpPr>
        <p:spPr>
          <a:xfrm>
            <a:off x="6986089" y="5266944"/>
            <a:ext cx="4327782"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Pemantauan bergantung pada laporan warga dan patroli manual: reaktif, tidak terukur, dan tidak dapat diaudit.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Diagnosis</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Akar permasalahan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Lima akar yang kami identifikasi — masing-masing dijawab oleh satu komponen sistem, bukan oleh model saja.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06 / 37</a:t>
            </a:r>
          </a:p>
        </p:txBody>
      </p:sp>
      <p:sp>
        <p:nvSpPr>
          <p:cNvPr id="9" name="Rounded Rectangle 8"/>
          <p:cNvSpPr/>
          <p:nvPr/>
        </p:nvSpPr>
        <p:spPr>
          <a:xfrm>
            <a:off x="658368" y="1847088"/>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15544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1B7A50"/>
                </a:solidFill>
                <a:latin typeface="Trebuchet MS"/>
              </a:rPr>
              <a:t>01</a:t>
            </a:r>
          </a:p>
        </p:txBody>
      </p:sp>
      <p:sp>
        <p:nvSpPr>
          <p:cNvPr id="12" name="TextBox 11"/>
          <p:cNvSpPr txBox="1"/>
          <p:nvPr/>
        </p:nvSpPr>
        <p:spPr>
          <a:xfrm>
            <a:off x="896112" y="22585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Titik pembuangan liar tidak terlihat</a:t>
            </a:r>
          </a:p>
        </p:txBody>
      </p:sp>
      <p:sp>
        <p:nvSpPr>
          <p:cNvPr id="13" name="TextBox 12"/>
          <p:cNvSpPr txBox="1"/>
          <p:nvPr/>
        </p:nvSpPr>
        <p:spPr>
          <a:xfrm>
            <a:off x="896112" y="2624327"/>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Patroli manual dan menunggu laporan warga. Kamera ada, tetapi keluarannya tidak pernah dibaca mesin.</a:t>
            </a:r>
          </a:p>
        </p:txBody>
      </p:sp>
      <p:sp>
        <p:nvSpPr>
          <p:cNvPr id="14" name="Rounded Rectangle 13"/>
          <p:cNvSpPr/>
          <p:nvPr/>
        </p:nvSpPr>
        <p:spPr>
          <a:xfrm>
            <a:off x="4368698" y="1847088"/>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68698" y="1847088"/>
            <a:ext cx="50292" cy="155448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6442" y="2020824"/>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C08A1A"/>
                </a:solidFill>
                <a:latin typeface="Trebuchet MS"/>
              </a:rPr>
              <a:t>02</a:t>
            </a:r>
          </a:p>
        </p:txBody>
      </p:sp>
      <p:sp>
        <p:nvSpPr>
          <p:cNvPr id="17" name="TextBox 16"/>
          <p:cNvSpPr txBox="1"/>
          <p:nvPr/>
        </p:nvSpPr>
        <p:spPr>
          <a:xfrm>
            <a:off x="4606442" y="22585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Durasi tidak pernah tercatat</a:t>
            </a:r>
          </a:p>
        </p:txBody>
      </p:sp>
      <p:sp>
        <p:nvSpPr>
          <p:cNvPr id="18" name="TextBox 17"/>
          <p:cNvSpPr txBox="1"/>
          <p:nvPr/>
        </p:nvSpPr>
        <p:spPr>
          <a:xfrm>
            <a:off x="4606442" y="2624327"/>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Tanpa waktu pertama-muncul, tidak ada dasar untuk menilai keterlambatan penanganan.</a:t>
            </a:r>
          </a:p>
        </p:txBody>
      </p:sp>
      <p:sp>
        <p:nvSpPr>
          <p:cNvPr id="19" name="Rounded Rectangle 18"/>
          <p:cNvSpPr/>
          <p:nvPr/>
        </p:nvSpPr>
        <p:spPr>
          <a:xfrm>
            <a:off x="8079028" y="1847088"/>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79028" y="1847088"/>
            <a:ext cx="50292" cy="1554480"/>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16772" y="2020824"/>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B93A2B"/>
                </a:solidFill>
                <a:latin typeface="Trebuchet MS"/>
              </a:rPr>
              <a:t>03</a:t>
            </a:r>
          </a:p>
        </p:txBody>
      </p:sp>
      <p:sp>
        <p:nvSpPr>
          <p:cNvPr id="22" name="TextBox 21"/>
          <p:cNvSpPr txBox="1"/>
          <p:nvPr/>
        </p:nvSpPr>
        <p:spPr>
          <a:xfrm>
            <a:off x="8316772" y="22585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Prioritas tidak dapat dipertanggungjawabkan</a:t>
            </a:r>
          </a:p>
        </p:txBody>
      </p:sp>
      <p:sp>
        <p:nvSpPr>
          <p:cNvPr id="23" name="TextBox 22"/>
          <p:cNvSpPr txBox="1"/>
          <p:nvPr/>
        </p:nvSpPr>
        <p:spPr>
          <a:xfrm>
            <a:off x="8316772" y="2624327"/>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Petugas terbatas, tetapi urutan pengerjaan ditentukan tanpa dasar yang bisa dijelaskan ke publik.</a:t>
            </a:r>
          </a:p>
        </p:txBody>
      </p:sp>
      <p:sp>
        <p:nvSpPr>
          <p:cNvPr id="24" name="Rounded Rectangle 23"/>
          <p:cNvSpPr/>
          <p:nvPr/>
        </p:nvSpPr>
        <p:spPr>
          <a:xfrm>
            <a:off x="658368" y="3593591"/>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3593591"/>
            <a:ext cx="50292" cy="155448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96112" y="3767328"/>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2F6E96"/>
                </a:solidFill>
                <a:latin typeface="Trebuchet MS"/>
              </a:rPr>
              <a:t>04</a:t>
            </a:r>
          </a:p>
        </p:txBody>
      </p:sp>
      <p:sp>
        <p:nvSpPr>
          <p:cNvPr id="27" name="TextBox 26"/>
          <p:cNvSpPr txBox="1"/>
          <p:nvPr/>
        </p:nvSpPr>
        <p:spPr>
          <a:xfrm>
            <a:off x="896112" y="4005072"/>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Tidak ada bukti penanganan</a:t>
            </a:r>
          </a:p>
        </p:txBody>
      </p:sp>
      <p:sp>
        <p:nvSpPr>
          <p:cNvPr id="28" name="TextBox 27"/>
          <p:cNvSpPr txBox="1"/>
          <p:nvPr/>
        </p:nvSpPr>
        <p:spPr>
          <a:xfrm>
            <a:off x="896112" y="4315968"/>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Laporan penyelesaian bersifat manual dan tidak disertai bukti visual sebelum–sesudah.</a:t>
            </a:r>
          </a:p>
        </p:txBody>
      </p:sp>
      <p:sp>
        <p:nvSpPr>
          <p:cNvPr id="29" name="Rounded Rectangle 28"/>
          <p:cNvSpPr/>
          <p:nvPr/>
        </p:nvSpPr>
        <p:spPr>
          <a:xfrm>
            <a:off x="4368698" y="3593591"/>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68698" y="3593591"/>
            <a:ext cx="50292" cy="15544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606442" y="3767328"/>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1B7A50"/>
                </a:solidFill>
                <a:latin typeface="Trebuchet MS"/>
              </a:rPr>
              <a:t>05</a:t>
            </a:r>
          </a:p>
        </p:txBody>
      </p:sp>
      <p:sp>
        <p:nvSpPr>
          <p:cNvPr id="32" name="TextBox 31"/>
          <p:cNvSpPr txBox="1"/>
          <p:nvPr/>
        </p:nvSpPr>
        <p:spPr>
          <a:xfrm>
            <a:off x="4606442" y="4005072"/>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Kebersihan wilayah tidak terbandingkan</a:t>
            </a:r>
          </a:p>
        </p:txBody>
      </p:sp>
      <p:sp>
        <p:nvSpPr>
          <p:cNvPr id="33" name="TextBox 32"/>
          <p:cNvSpPr txBox="1"/>
          <p:nvPr/>
        </p:nvSpPr>
        <p:spPr>
          <a:xfrm>
            <a:off x="4606442" y="4370831"/>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Penilaian bersifat tahunan (Adipura), sehingga tidak dapat dipakai untuk keputusan mingguan.</a:t>
            </a:r>
          </a:p>
        </p:txBody>
      </p:sp>
      <p:sp>
        <p:nvSpPr>
          <p:cNvPr id="34" name="Rounded Rectangle 33"/>
          <p:cNvSpPr/>
          <p:nvPr/>
        </p:nvSpPr>
        <p:spPr>
          <a:xfrm>
            <a:off x="8079028" y="3593591"/>
            <a:ext cx="3454298"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79028" y="3593591"/>
            <a:ext cx="50292" cy="155448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316772" y="3767328"/>
            <a:ext cx="2997098"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a:solidFill>
                  <a:srgbClr val="C08A1A"/>
                </a:solidFill>
                <a:latin typeface="Trebuchet MS"/>
              </a:rPr>
              <a:t>06</a:t>
            </a:r>
          </a:p>
        </p:txBody>
      </p:sp>
      <p:sp>
        <p:nvSpPr>
          <p:cNvPr id="37" name="TextBox 36"/>
          <p:cNvSpPr txBox="1"/>
          <p:nvPr/>
        </p:nvSpPr>
        <p:spPr>
          <a:xfrm>
            <a:off x="8316772" y="4005072"/>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Keputusan bersifat reaktif, bukan struktural</a:t>
            </a:r>
          </a:p>
        </p:txBody>
      </p:sp>
      <p:sp>
        <p:nvSpPr>
          <p:cNvPr id="38" name="TextBox 37"/>
          <p:cNvSpPr txBox="1"/>
          <p:nvPr/>
        </p:nvSpPr>
        <p:spPr>
          <a:xfrm>
            <a:off x="8316772" y="4370831"/>
            <a:ext cx="2997098"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Tanpa data kekambuhan, kota membersihkan titik yang sama berulang tanpa memperbaiki penyebabnya.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Rumusan masalah</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Lima pertanyaan yang kami jawab</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07 / 37</a:t>
            </a:r>
          </a:p>
        </p:txBody>
      </p:sp>
      <p:sp>
        <p:nvSpPr>
          <p:cNvPr id="8" name="Rounded Rectangle 7"/>
          <p:cNvSpPr/>
          <p:nvPr/>
        </p:nvSpPr>
        <p:spPr>
          <a:xfrm>
            <a:off x="658368" y="1467612"/>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389888"/>
            <a:ext cx="10618927" cy="365760"/>
          </a:xfrm>
          <a:prstGeom prst="rect">
            <a:avLst/>
          </a:prstGeom>
          <a:noFill/>
        </p:spPr>
        <p:txBody>
          <a:bodyPr wrap="square" lIns="0" rIns="0" tIns="0" bIns="0" anchor="t">
            <a:spAutoFit/>
          </a:bodyPr>
          <a:lstStyle/>
          <a:p>
            <a:pPr algn="l">
              <a:lnSpc>
                <a:spcPct val="130000"/>
              </a:lnSpc>
              <a:spcBef>
                <a:spcPts val="0"/>
              </a:spcBef>
              <a:spcAft>
                <a:spcPts val="0"/>
              </a:spcAft>
            </a:pPr>
            <a:r>
              <a:rPr sz="1300" b="1" i="0">
                <a:solidFill>
                  <a:srgbClr val="0E2419"/>
                </a:solidFill>
                <a:latin typeface="Arial"/>
              </a:rPr>
              <a:t>1. </a:t>
            </a:r>
            <a:r>
              <a:rPr sz="1300" b="0" i="0">
                <a:solidFill>
                  <a:srgbClr val="0E2419"/>
                </a:solidFill>
                <a:latin typeface="Arial"/>
              </a:rPr>
              <a:t>Bagaimana memanfaatkan jaringan CCTV publik yang sudah terpasang sebagai sensor kebersihan otomatis tanpa memerlukan pemasangan perangkat baru?</a:t>
            </a:r>
          </a:p>
        </p:txBody>
      </p:sp>
      <p:sp>
        <p:nvSpPr>
          <p:cNvPr id="10" name="Rounded Rectangle 9"/>
          <p:cNvSpPr/>
          <p:nvPr/>
        </p:nvSpPr>
        <p:spPr>
          <a:xfrm>
            <a:off x="658368" y="1865122"/>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1787398"/>
            <a:ext cx="10618927" cy="365760"/>
          </a:xfrm>
          <a:prstGeom prst="rect">
            <a:avLst/>
          </a:prstGeom>
          <a:noFill/>
        </p:spPr>
        <p:txBody>
          <a:bodyPr wrap="square" lIns="0" rIns="0" tIns="0" bIns="0" anchor="t">
            <a:spAutoFit/>
          </a:bodyPr>
          <a:lstStyle/>
          <a:p>
            <a:pPr algn="l">
              <a:lnSpc>
                <a:spcPct val="130000"/>
              </a:lnSpc>
              <a:spcBef>
                <a:spcPts val="0"/>
              </a:spcBef>
              <a:spcAft>
                <a:spcPts val="0"/>
              </a:spcAft>
            </a:pPr>
            <a:r>
              <a:rPr sz="1300" b="1" i="0">
                <a:solidFill>
                  <a:srgbClr val="0E2419"/>
                </a:solidFill>
                <a:latin typeface="Arial"/>
              </a:rPr>
              <a:t>2. </a:t>
            </a:r>
            <a:r>
              <a:rPr sz="1300" b="0" i="0">
                <a:solidFill>
                  <a:srgbClr val="0E2419"/>
                </a:solidFill>
                <a:latin typeface="Arial"/>
              </a:rPr>
              <a:t>Bagaimana membedakan deteksi sesaat dari penumpukan sampah yang benar-benar perlu ditindaklanjuti, ketika aliran video kontinu tidak tersedia?</a:t>
            </a:r>
          </a:p>
        </p:txBody>
      </p:sp>
      <p:sp>
        <p:nvSpPr>
          <p:cNvPr id="12" name="Rounded Rectangle 11"/>
          <p:cNvSpPr/>
          <p:nvPr/>
        </p:nvSpPr>
        <p:spPr>
          <a:xfrm>
            <a:off x="658368" y="2262632"/>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2184908"/>
            <a:ext cx="10618927" cy="365760"/>
          </a:xfrm>
          <a:prstGeom prst="rect">
            <a:avLst/>
          </a:prstGeom>
          <a:noFill/>
        </p:spPr>
        <p:txBody>
          <a:bodyPr wrap="square" lIns="0" rIns="0" tIns="0" bIns="0" anchor="t">
            <a:spAutoFit/>
          </a:bodyPr>
          <a:lstStyle/>
          <a:p>
            <a:pPr algn="l">
              <a:lnSpc>
                <a:spcPct val="130000"/>
              </a:lnSpc>
              <a:spcBef>
                <a:spcPts val="0"/>
              </a:spcBef>
              <a:spcAft>
                <a:spcPts val="0"/>
              </a:spcAft>
            </a:pPr>
            <a:r>
              <a:rPr sz="1300" b="1" i="0">
                <a:solidFill>
                  <a:srgbClr val="0E2419"/>
                </a:solidFill>
                <a:latin typeface="Arial"/>
              </a:rPr>
              <a:t>3. </a:t>
            </a:r>
            <a:r>
              <a:rPr sz="1300" b="0" i="0">
                <a:solidFill>
                  <a:srgbClr val="0E2419"/>
                </a:solidFill>
                <a:latin typeface="Arial"/>
              </a:rPr>
              <a:t>Bagaimana mengukur dan mencatat durasi keberadaan sampah sebagai dasar penilaian kinerja penanganan?</a:t>
            </a:r>
          </a:p>
        </p:txBody>
      </p:sp>
      <p:sp>
        <p:nvSpPr>
          <p:cNvPr id="14" name="Rounded Rectangle 13"/>
          <p:cNvSpPr/>
          <p:nvPr/>
        </p:nvSpPr>
        <p:spPr>
          <a:xfrm>
            <a:off x="658368" y="2660142"/>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2582418"/>
            <a:ext cx="10618927" cy="365760"/>
          </a:xfrm>
          <a:prstGeom prst="rect">
            <a:avLst/>
          </a:prstGeom>
          <a:noFill/>
        </p:spPr>
        <p:txBody>
          <a:bodyPr wrap="square" lIns="0" rIns="0" tIns="0" bIns="0" anchor="t">
            <a:spAutoFit/>
          </a:bodyPr>
          <a:lstStyle/>
          <a:p>
            <a:pPr algn="l">
              <a:lnSpc>
                <a:spcPct val="130000"/>
              </a:lnSpc>
              <a:spcBef>
                <a:spcPts val="0"/>
              </a:spcBef>
              <a:spcAft>
                <a:spcPts val="0"/>
              </a:spcAft>
            </a:pPr>
            <a:r>
              <a:rPr sz="1300" b="1" i="0">
                <a:solidFill>
                  <a:srgbClr val="0E2419"/>
                </a:solidFill>
                <a:latin typeface="Arial"/>
              </a:rPr>
              <a:t>4. </a:t>
            </a:r>
            <a:r>
              <a:rPr sz="1300" b="0" i="0">
                <a:solidFill>
                  <a:srgbClr val="0E2419"/>
                </a:solidFill>
                <a:latin typeface="Arial"/>
              </a:rPr>
              <a:t>Bagaimana menentukan urutan prioritas penanganan secara adil dan dapat dipertanggungjawabkan ketika jumlah petugas terbatas?</a:t>
            </a:r>
          </a:p>
        </p:txBody>
      </p:sp>
      <p:sp>
        <p:nvSpPr>
          <p:cNvPr id="16" name="Rounded Rectangle 15"/>
          <p:cNvSpPr/>
          <p:nvPr/>
        </p:nvSpPr>
        <p:spPr>
          <a:xfrm>
            <a:off x="658368" y="3057652"/>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2979928"/>
            <a:ext cx="10618927" cy="365760"/>
          </a:xfrm>
          <a:prstGeom prst="rect">
            <a:avLst/>
          </a:prstGeom>
          <a:noFill/>
        </p:spPr>
        <p:txBody>
          <a:bodyPr wrap="square" lIns="0" rIns="0" tIns="0" bIns="0" anchor="t">
            <a:spAutoFit/>
          </a:bodyPr>
          <a:lstStyle/>
          <a:p>
            <a:pPr algn="l">
              <a:lnSpc>
                <a:spcPct val="130000"/>
              </a:lnSpc>
              <a:spcBef>
                <a:spcPts val="0"/>
              </a:spcBef>
              <a:spcAft>
                <a:spcPts val="0"/>
              </a:spcAft>
            </a:pPr>
            <a:r>
              <a:rPr sz="1300" b="1" i="0">
                <a:solidFill>
                  <a:srgbClr val="0E2419"/>
                </a:solidFill>
                <a:latin typeface="Arial"/>
              </a:rPr>
              <a:t>5. </a:t>
            </a:r>
            <a:r>
              <a:rPr sz="1300" b="0" i="0">
                <a:solidFill>
                  <a:srgbClr val="0E2419"/>
                </a:solidFill>
                <a:latin typeface="Arial"/>
              </a:rPr>
              <a:t>Sejauh mana model deteksi sampah yang tersedia secara publik dapat langsung diterapkan pada citra CCTV kota di Indonesia?</a:t>
            </a:r>
          </a:p>
        </p:txBody>
      </p:sp>
      <p:sp>
        <p:nvSpPr>
          <p:cNvPr id="18" name="Rounded Rectangle 17"/>
          <p:cNvSpPr/>
          <p:nvPr/>
        </p:nvSpPr>
        <p:spPr>
          <a:xfrm>
            <a:off x="658368" y="3523742"/>
            <a:ext cx="10874959" cy="905256"/>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523742"/>
            <a:ext cx="54864" cy="905256"/>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96112" y="3679190"/>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Catatan untuk juri</a:t>
            </a:r>
          </a:p>
        </p:txBody>
      </p:sp>
      <p:sp>
        <p:nvSpPr>
          <p:cNvPr id="21" name="TextBox 20"/>
          <p:cNvSpPr txBox="1"/>
          <p:nvPr/>
        </p:nvSpPr>
        <p:spPr>
          <a:xfrm>
            <a:off x="896112" y="3944366"/>
            <a:ext cx="1041775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Pertanyaan kelima sengaja kami masukkan sebagai pertanyaan penelitian, bukan sebagai asumsi. Jawabannya — yang kami ukur sendiri pada Bagian 05 — ternyata negatif, dan justru itu yang menentukan arah pengembangan berikutnya.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Tujuan</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Delapan tujuan pengembangan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Tujuan disusun agar setiap butirnya dapat diverifikasi, bukan sekadar dinyatakan.</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08 / 37</a:t>
            </a:r>
          </a:p>
        </p:txBody>
      </p:sp>
      <p:sp>
        <p:nvSpPr>
          <p:cNvPr id="9" name="Rounded Rectangle 8"/>
          <p:cNvSpPr/>
          <p:nvPr/>
        </p:nvSpPr>
        <p:spPr>
          <a:xfrm>
            <a:off x="658368" y="1847088"/>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915668"/>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1</a:t>
            </a:r>
          </a:p>
        </p:txBody>
      </p:sp>
      <p:sp>
        <p:nvSpPr>
          <p:cNvPr id="11" name="TextBox 10"/>
          <p:cNvSpPr txBox="1"/>
          <p:nvPr/>
        </p:nvSpPr>
        <p:spPr>
          <a:xfrm>
            <a:off x="1115568" y="1874519"/>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Mendeteksi keberadaan sampah di ruang publik secara otomatis dari CCTV.</a:t>
            </a:r>
          </a:p>
        </p:txBody>
      </p:sp>
      <p:sp>
        <p:nvSpPr>
          <p:cNvPr id="12" name="Rounded Rectangle 11"/>
          <p:cNvSpPr/>
          <p:nvPr/>
        </p:nvSpPr>
        <p:spPr>
          <a:xfrm>
            <a:off x="6205575" y="1847088"/>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05575" y="1915668"/>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2</a:t>
            </a:r>
          </a:p>
        </p:txBody>
      </p:sp>
      <p:sp>
        <p:nvSpPr>
          <p:cNvPr id="14" name="TextBox 13"/>
          <p:cNvSpPr txBox="1"/>
          <p:nvPr/>
        </p:nvSpPr>
        <p:spPr>
          <a:xfrm>
            <a:off x="6662775" y="1874519"/>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Menerapkan Computer Vision (YOLOv5) pada citra CCTV publik.</a:t>
            </a:r>
          </a:p>
        </p:txBody>
      </p:sp>
      <p:sp>
        <p:nvSpPr>
          <p:cNvPr id="15" name="Rounded Rectangle 14"/>
          <p:cNvSpPr/>
          <p:nvPr/>
        </p:nvSpPr>
        <p:spPr>
          <a:xfrm>
            <a:off x="658368" y="2450592"/>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8368" y="2519172"/>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3</a:t>
            </a:r>
          </a:p>
        </p:txBody>
      </p:sp>
      <p:sp>
        <p:nvSpPr>
          <p:cNvPr id="17" name="TextBox 16"/>
          <p:cNvSpPr txBox="1"/>
          <p:nvPr/>
        </p:nvSpPr>
        <p:spPr>
          <a:xfrm>
            <a:off x="1115568" y="2478024"/>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Menerapkan persistence rule berbasis IoU dan duration tracking.</a:t>
            </a:r>
          </a:p>
        </p:txBody>
      </p:sp>
      <p:sp>
        <p:nvSpPr>
          <p:cNvPr id="18" name="Rounded Rectangle 17"/>
          <p:cNvSpPr/>
          <p:nvPr/>
        </p:nvSpPr>
        <p:spPr>
          <a:xfrm>
            <a:off x="6205575" y="2450592"/>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205575" y="2519172"/>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4</a:t>
            </a:r>
          </a:p>
        </p:txBody>
      </p:sp>
      <p:sp>
        <p:nvSpPr>
          <p:cNvPr id="20" name="TextBox 19"/>
          <p:cNvSpPr txBox="1"/>
          <p:nvPr/>
        </p:nvSpPr>
        <p:spPr>
          <a:xfrm>
            <a:off x="6662775" y="2478024"/>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Membentuk incident management dengan snapshot, lokasi, waktu, dan durasi sebagai evidence.</a:t>
            </a:r>
          </a:p>
        </p:txBody>
      </p:sp>
      <p:sp>
        <p:nvSpPr>
          <p:cNvPr id="21" name="Rounded Rectangle 20"/>
          <p:cNvSpPr/>
          <p:nvPr/>
        </p:nvSpPr>
        <p:spPr>
          <a:xfrm>
            <a:off x="658368" y="3054096"/>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3122676"/>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5</a:t>
            </a:r>
          </a:p>
        </p:txBody>
      </p:sp>
      <p:sp>
        <p:nvSpPr>
          <p:cNvPr id="23" name="TextBox 22"/>
          <p:cNvSpPr txBox="1"/>
          <p:nvPr/>
        </p:nvSpPr>
        <p:spPr>
          <a:xfrm>
            <a:off x="1115568" y="3081527"/>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Membangun mesin prioritas yang dapat dijelaskan faktor demi faktor.</a:t>
            </a:r>
          </a:p>
        </p:txBody>
      </p:sp>
      <p:sp>
        <p:nvSpPr>
          <p:cNvPr id="24" name="Rounded Rectangle 23"/>
          <p:cNvSpPr/>
          <p:nvPr/>
        </p:nvSpPr>
        <p:spPr>
          <a:xfrm>
            <a:off x="6205575" y="3054096"/>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205575" y="3122676"/>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6</a:t>
            </a:r>
          </a:p>
        </p:txBody>
      </p:sp>
      <p:sp>
        <p:nvSpPr>
          <p:cNvPr id="26" name="TextBox 25"/>
          <p:cNvSpPr txBox="1"/>
          <p:nvPr/>
        </p:nvSpPr>
        <p:spPr>
          <a:xfrm>
            <a:off x="6662775" y="3081527"/>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Mendukung penanganan lewat verifikasi, penugasan, status, dan eskalasi SLA berjenjang.</a:t>
            </a:r>
          </a:p>
        </p:txBody>
      </p:sp>
      <p:sp>
        <p:nvSpPr>
          <p:cNvPr id="27" name="Rounded Rectangle 26"/>
          <p:cNvSpPr/>
          <p:nvPr/>
        </p:nvSpPr>
        <p:spPr>
          <a:xfrm>
            <a:off x="658368" y="3657600"/>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3726180"/>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7</a:t>
            </a:r>
          </a:p>
        </p:txBody>
      </p:sp>
      <p:sp>
        <p:nvSpPr>
          <p:cNvPr id="29" name="TextBox 28"/>
          <p:cNvSpPr txBox="1"/>
          <p:nvPr/>
        </p:nvSpPr>
        <p:spPr>
          <a:xfrm>
            <a:off x="1115568" y="3685032"/>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Membuka partisipasi masyarakat yang disaring AI namun diputuskan manusia.</a:t>
            </a:r>
          </a:p>
        </p:txBody>
      </p:sp>
      <p:sp>
        <p:nvSpPr>
          <p:cNvPr id="30" name="Rounded Rectangle 29"/>
          <p:cNvSpPr/>
          <p:nvPr/>
        </p:nvSpPr>
        <p:spPr>
          <a:xfrm>
            <a:off x="6205575" y="3657600"/>
            <a:ext cx="310896" cy="310896"/>
          </a:xfrm>
          <a:prstGeom prst="roundRect">
            <a:avLst>
              <a:gd name="adj" fmla="val 22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205575" y="3726180"/>
            <a:ext cx="310896" cy="219456"/>
          </a:xfrm>
          <a:prstGeom prst="rect">
            <a:avLst/>
          </a:prstGeom>
          <a:noFill/>
        </p:spPr>
        <p:txBody>
          <a:bodyPr wrap="square" lIns="0" rIns="0" tIns="0" bIns="0" anchor="t">
            <a:spAutoFit/>
          </a:bodyPr>
          <a:lstStyle/>
          <a:p>
            <a:pPr algn="ctr">
              <a:lnSpc>
                <a:spcPct val="112000"/>
              </a:lnSpc>
              <a:spcBef>
                <a:spcPts val="0"/>
              </a:spcBef>
              <a:spcAft>
                <a:spcPts val="0"/>
              </a:spcAft>
            </a:pPr>
            <a:r>
              <a:rPr sz="1100" b="1" i="0">
                <a:solidFill>
                  <a:srgbClr val="1B7A50"/>
                </a:solidFill>
                <a:latin typeface="Trebuchet MS"/>
              </a:rPr>
              <a:t>8</a:t>
            </a:r>
          </a:p>
        </p:txBody>
      </p:sp>
      <p:sp>
        <p:nvSpPr>
          <p:cNvPr id="32" name="TextBox 31"/>
          <p:cNvSpPr txBox="1"/>
          <p:nvPr/>
        </p:nvSpPr>
        <p:spPr>
          <a:xfrm>
            <a:off x="6662775" y="3685032"/>
            <a:ext cx="4779111" cy="548640"/>
          </a:xfrm>
          <a:prstGeom prst="rect">
            <a:avLst/>
          </a:prstGeom>
          <a:noFill/>
        </p:spPr>
        <p:txBody>
          <a:bodyPr wrap="square" lIns="0" rIns="0" tIns="0" bIns="0" anchor="t">
            <a:spAutoFit/>
          </a:bodyPr>
          <a:lstStyle/>
          <a:p>
            <a:pPr algn="l">
              <a:lnSpc>
                <a:spcPct val="128000"/>
              </a:lnSpc>
              <a:spcBef>
                <a:spcPts val="0"/>
              </a:spcBef>
              <a:spcAft>
                <a:spcPts val="0"/>
              </a:spcAft>
            </a:pPr>
            <a:r>
              <a:rPr sz="1150" b="0" i="0">
                <a:solidFill>
                  <a:srgbClr val="0E2419"/>
                </a:solidFill>
                <a:latin typeface="Arial"/>
              </a:rPr>
              <a:t>Mengukur secara jujur keterterapan model publik dan merancang jalur perbaikannya.</a:t>
            </a:r>
          </a:p>
        </p:txBody>
      </p:sp>
      <p:sp>
        <p:nvSpPr>
          <p:cNvPr id="33" name="Rounded Rectangle 32"/>
          <p:cNvSpPr/>
          <p:nvPr/>
        </p:nvSpPr>
        <p:spPr>
          <a:xfrm>
            <a:off x="658368" y="4334256"/>
            <a:ext cx="10874959"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4334256"/>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96112" y="4489704"/>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Harapan</a:t>
            </a:r>
          </a:p>
        </p:txBody>
      </p:sp>
      <p:sp>
        <p:nvSpPr>
          <p:cNvPr id="36" name="TextBox 35"/>
          <p:cNvSpPr txBox="1"/>
          <p:nvPr/>
        </p:nvSpPr>
        <p:spPr>
          <a:xfrm>
            <a:off x="896112" y="4754880"/>
            <a:ext cx="1041775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Sistem ini tidak menggantikan petugas, melainkan membantu menemukan dan memprioritaskan kejadian yang membutuhkan perhatian. Dalam jangka menengah, akumulasi datanya memungkinkan keputusan struktural: menambah TPS, mengubah jadwal angkut, atau mengarahkan penindakan.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86968" y="1874519"/>
            <a:ext cx="6035040" cy="64008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BAGIAN 02</a:t>
            </a:r>
          </a:p>
        </p:txBody>
      </p:sp>
      <p:sp>
        <p:nvSpPr>
          <p:cNvPr id="5" name="TextBox 4"/>
          <p:cNvSpPr txBox="1"/>
          <p:nvPr/>
        </p:nvSpPr>
        <p:spPr>
          <a:xfrm>
            <a:off x="886968" y="2212848"/>
            <a:ext cx="7498079" cy="109728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Trebuchet MS"/>
              </a:rPr>
              <a:t>Landasan &amp;
Referensi Jurnal</a:t>
            </a:r>
          </a:p>
        </p:txBody>
      </p:sp>
      <p:sp>
        <p:nvSpPr>
          <p:cNvPr id="6" name="TextBox 5"/>
          <p:cNvSpPr txBox="1"/>
          <p:nvPr/>
        </p:nvSpPr>
        <p:spPr>
          <a:xfrm>
            <a:off x="886968" y="3520440"/>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E8F3EC"/>
                </a:solidFill>
                <a:latin typeface="Arial"/>
              </a:rPr>
              <a:t>Kelayakan teknis pendekatan ini sudah ditunjukkan literatur. Yang belum dijawab adalah apa yang terjadi setelah bounding box.</a:t>
            </a:r>
          </a:p>
        </p:txBody>
      </p:sp>
      <p:sp>
        <p:nvSpPr>
          <p:cNvPr id="7" name="Rounded Rectangle 6"/>
          <p:cNvSpPr/>
          <p:nvPr/>
        </p:nvSpPr>
        <p:spPr>
          <a:xfrm>
            <a:off x="7680960" y="2340864"/>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73568" y="2231136"/>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21 rujukan: jurnal internasional &amp; nasional</a:t>
            </a:r>
          </a:p>
        </p:txBody>
      </p:sp>
      <p:sp>
        <p:nvSpPr>
          <p:cNvPr id="9" name="Rounded Rectangle 8"/>
          <p:cNvSpPr/>
          <p:nvPr/>
        </p:nvSpPr>
        <p:spPr>
          <a:xfrm>
            <a:off x="7680960" y="2907792"/>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73568" y="2798064"/>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Tinjauan 85 penelitian AI–persampahan</a:t>
            </a:r>
          </a:p>
        </p:txBody>
      </p:sp>
      <p:sp>
        <p:nvSpPr>
          <p:cNvPr id="11" name="Rounded Rectangle 10"/>
          <p:cNvSpPr/>
          <p:nvPr/>
        </p:nvSpPr>
        <p:spPr>
          <a:xfrm>
            <a:off x="7680960" y="3474720"/>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73568" y="3364992"/>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Skip-YOLO: mAP50 90,38%</a:t>
            </a:r>
          </a:p>
        </p:txBody>
      </p:sp>
      <p:sp>
        <p:nvSpPr>
          <p:cNvPr id="13" name="Rounded Rectangle 12"/>
          <p:cNvSpPr/>
          <p:nvPr/>
        </p:nvSpPr>
        <p:spPr>
          <a:xfrm>
            <a:off x="7680960" y="4041647"/>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73568" y="3931919"/>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Cleanliness Index sebagai dasar skor wilayah</a:t>
            </a:r>
          </a:p>
        </p:txBody>
      </p:sp>
      <p:sp>
        <p:nvSpPr>
          <p:cNvPr id="15" name="TextBox 14"/>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35A46F"/>
                </a:solidFill>
                <a:latin typeface="Trebuchet MS"/>
              </a:rPr>
              <a:t>NOVIRA · Detect Today, Keep Tomorrow</a:t>
            </a:r>
          </a:p>
        </p:txBody>
      </p:sp>
      <p:sp>
        <p:nvSpPr>
          <p:cNvPr id="16" name="TextBox 15"/>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09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Landasan</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Landasan teori yang dipakai</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Empat pilar teknis, masing-masing dengan rujukan primernya.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10 / 37</a:t>
            </a:r>
          </a:p>
        </p:txBody>
      </p:sp>
      <p:sp>
        <p:nvSpPr>
          <p:cNvPr id="9" name="Rounded Rectangle 8"/>
          <p:cNvSpPr/>
          <p:nvPr/>
        </p:nvSpPr>
        <p:spPr>
          <a:xfrm>
            <a:off x="658368" y="1847088"/>
            <a:ext cx="5309463" cy="1874519"/>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1874519"/>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Object Detection — YOLO</a:t>
            </a:r>
          </a:p>
        </p:txBody>
      </p:sp>
      <p:sp>
        <p:nvSpPr>
          <p:cNvPr id="12" name="TextBox 11"/>
          <p:cNvSpPr txBox="1"/>
          <p:nvPr/>
        </p:nvSpPr>
        <p:spPr>
          <a:xfrm>
            <a:off x="896112" y="2331720"/>
            <a:ext cx="4852263" cy="132587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Arsitektur single-stage detector yang memetakan citra ke bounding box + kelas dalam satu lintasan. Dipilih karena inferensinya cepat dan bobot terlatih untuk domain sampah tersedia publik.
Jocher et al. (2020); Zhao et al. (2023); Li, Xu &amp; Liu (2024)</a:t>
            </a:r>
          </a:p>
        </p:txBody>
      </p:sp>
      <p:sp>
        <p:nvSpPr>
          <p:cNvPr id="13" name="Rounded Rectangle 12"/>
          <p:cNvSpPr/>
          <p:nvPr/>
        </p:nvSpPr>
        <p:spPr>
          <a:xfrm>
            <a:off x="6223863" y="1847088"/>
            <a:ext cx="5309463" cy="1874519"/>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23863" y="1847088"/>
            <a:ext cx="50292" cy="1874519"/>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61607" y="2020824"/>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Persistensi berbasis IoU</a:t>
            </a:r>
          </a:p>
        </p:txBody>
      </p:sp>
      <p:sp>
        <p:nvSpPr>
          <p:cNvPr id="16" name="TextBox 15"/>
          <p:cNvSpPr txBox="1"/>
          <p:nvPr/>
        </p:nvSpPr>
        <p:spPr>
          <a:xfrm>
            <a:off x="6461607" y="2331720"/>
            <a:ext cx="4852263" cy="132587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Intersection over Union antar-siklus dipakai mencocokkan deteksi baru dengan incident yang masih terbuka, sehingga satu tumpukan yang bertahan memperpanjang durasi alih-alih membuat duplikat.
Alternatif dari object tracking antar-frame.</a:t>
            </a:r>
          </a:p>
        </p:txBody>
      </p:sp>
      <p:sp>
        <p:nvSpPr>
          <p:cNvPr id="17" name="Rounded Rectangle 16"/>
          <p:cNvSpPr/>
          <p:nvPr/>
        </p:nvSpPr>
        <p:spPr>
          <a:xfrm>
            <a:off x="658368" y="3913631"/>
            <a:ext cx="5309463" cy="1874519"/>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913631"/>
            <a:ext cx="50292" cy="1874519"/>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96112" y="4087368"/>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Cleanliness Index</a:t>
            </a:r>
          </a:p>
        </p:txBody>
      </p:sp>
      <p:sp>
        <p:nvSpPr>
          <p:cNvPr id="20" name="TextBox 19"/>
          <p:cNvSpPr txBox="1"/>
          <p:nvPr/>
        </p:nvSpPr>
        <p:spPr>
          <a:xfrm>
            <a:off x="896112" y="4398264"/>
            <a:ext cx="4852263" cy="132587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Hasil deteksi diubah menjadi indeks kebersihan jalan yang dapat dibandingkan antar-lokasi. Menjadi dasar konseptual skor kebersihan 0–100 per wilayah pada NOVIRA.
Liao et al. (2021)</a:t>
            </a:r>
          </a:p>
        </p:txBody>
      </p:sp>
      <p:sp>
        <p:nvSpPr>
          <p:cNvPr id="21" name="Rounded Rectangle 20"/>
          <p:cNvSpPr/>
          <p:nvPr/>
        </p:nvSpPr>
        <p:spPr>
          <a:xfrm>
            <a:off x="6223863" y="3913631"/>
            <a:ext cx="5309463" cy="1874519"/>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223863" y="3913631"/>
            <a:ext cx="50292" cy="1874519"/>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61607" y="4087368"/>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Incident management &amp; SLA</a:t>
            </a:r>
          </a:p>
        </p:txBody>
      </p:sp>
      <p:sp>
        <p:nvSpPr>
          <p:cNvPr id="24" name="TextBox 23"/>
          <p:cNvSpPr txBox="1"/>
          <p:nvPr/>
        </p:nvSpPr>
        <p:spPr>
          <a:xfrm>
            <a:off x="6461607" y="4398264"/>
            <a:ext cx="4852263" cy="132587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Deteksi diperlakukan sebagai tiket kerja dengan pemilik, tenggat, dan jejak audit — praktik yang matang di domain operasional dan di sini diterapkan ke kebersihan kota.
Eskalasi berjenjang 12/24/48 jam.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Referensi jurnal</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Rujukan inti dan kontribusinya</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Enam rujukan yang secara langsung membentuk keputusan desain NOVIRA.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11 / 37</a:t>
            </a:r>
          </a:p>
        </p:txBody>
      </p:sp>
      <p:graphicFrame>
        <p:nvGraphicFramePr>
          <p:cNvPr id="9" name="Table 8"/>
          <p:cNvGraphicFramePr>
            <a:graphicFrameLocks noGrp="1"/>
          </p:cNvGraphicFramePr>
          <p:nvPr/>
        </p:nvGraphicFramePr>
        <p:xfrm>
          <a:off x="658368" y="1847088"/>
          <a:ext cx="10874958" cy="4242816"/>
        </p:xfrm>
        <a:graphic>
          <a:graphicData uri="http://schemas.openxmlformats.org/drawingml/2006/table">
            <a:tbl>
              <a:tblPr firstRow="1" bandRow="1">
                <a:tableStyleId>{5C22544A-7EE6-4342-B048-85BDC9FD1C3A}</a:tableStyleId>
              </a:tblPr>
              <a:tblGrid>
                <a:gridCol w="2827489"/>
                <a:gridCol w="3697486"/>
                <a:gridCol w="4349983"/>
              </a:tblGrid>
              <a:tr h="292608">
                <a:tc>
                  <a:txBody>
                    <a:bodyPr wrap="square"/>
                    <a:lstStyle/>
                    <a:p>
                      <a:pPr algn="l">
                        <a:lnSpc>
                          <a:spcPct val="112000"/>
                        </a:lnSpc>
                        <a:spcBef>
                          <a:spcPts val="0"/>
                        </a:spcBef>
                        <a:spcAft>
                          <a:spcPts val="0"/>
                        </a:spcAft>
                      </a:pPr>
                      <a:r>
                        <a:rPr sz="900" b="1" i="0" cap="all" spc="80">
                          <a:solidFill>
                            <a:srgbClr val="FFFFFF"/>
                          </a:solidFill>
                          <a:latin typeface="Trebuchet MS"/>
                        </a:rPr>
                        <a:t>Rujukan</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00" b="1" i="0" cap="all" spc="80">
                          <a:solidFill>
                            <a:srgbClr val="FFFFFF"/>
                          </a:solidFill>
                          <a:latin typeface="Trebuchet MS"/>
                        </a:rPr>
                        <a:t>Kontribusi</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00" b="1" i="0" cap="all" spc="80">
                          <a:solidFill>
                            <a:srgbClr val="FFFFFF"/>
                          </a:solidFill>
                          <a:latin typeface="Trebuchet MS"/>
                        </a:rPr>
                        <a:t>Pengaruh pada NOVIRA</a:t>
                      </a:r>
                    </a:p>
                  </a:txBody>
                  <a:tcPr marL="82296" marR="82296" marT="36576" marB="36576" anchor="ctr">
                    <a:solidFill>
                      <a:srgbClr val="0D3B26"/>
                    </a:solidFill>
                  </a:tcPr>
                </a:tc>
              </a:tr>
              <a:tr h="658368">
                <a:tc>
                  <a:txBody>
                    <a:bodyPr wrap="square"/>
                    <a:lstStyle/>
                    <a:p>
                      <a:pPr algn="l">
                        <a:lnSpc>
                          <a:spcPct val="110000"/>
                        </a:lnSpc>
                        <a:spcBef>
                          <a:spcPts val="0"/>
                        </a:spcBef>
                        <a:spcAft>
                          <a:spcPts val="0"/>
                        </a:spcAft>
                      </a:pPr>
                      <a:r>
                        <a:rPr sz="860" b="0" i="0">
                          <a:solidFill>
                            <a:srgbClr val="0E2419"/>
                          </a:solidFill>
                          <a:latin typeface="Arial"/>
                        </a:rPr>
                        <a:t>Abdallah et al. (2020)
Waste Management, 109, 231–246</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Tinjauan sistematis 85 penelitian penerapan AI pada solid waste management.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Menegaskan kelayakan AI pada prediksi, deteksi, optimasi, dan perencanaan persampahan.</a:t>
                      </a:r>
                    </a:p>
                  </a:txBody>
                  <a:tcPr marL="82296" marR="82296" marT="27432" marB="27432" anchor="ctr">
                    <a:solidFill>
                      <a:srgbClr val="FFFFFF"/>
                    </a:solidFill>
                  </a:tcPr>
                </a:tc>
              </a:tr>
              <a:tr h="658368">
                <a:tc>
                  <a:txBody>
                    <a:bodyPr wrap="square"/>
                    <a:lstStyle/>
                    <a:p>
                      <a:pPr algn="l">
                        <a:lnSpc>
                          <a:spcPct val="110000"/>
                        </a:lnSpc>
                        <a:spcBef>
                          <a:spcPts val="0"/>
                        </a:spcBef>
                        <a:spcAft>
                          <a:spcPts val="0"/>
                        </a:spcAft>
                      </a:pPr>
                      <a:r>
                        <a:rPr sz="860" b="0" i="0">
                          <a:solidFill>
                            <a:srgbClr val="0E2419"/>
                          </a:solidFill>
                          <a:latin typeface="Arial"/>
                        </a:rPr>
                        <a:t>Zhao et al. (2023)
Skip-YOLO, IJCIS 16, 139</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Deteksi sampah domestik multi-skena; mAP50 90,38% pada datasetnya.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Menunjukkan objek serupa + latar kompleks sebagai tantangan utama — persis kondisi CCTV jalan.</a:t>
                      </a:r>
                    </a:p>
                  </a:txBody>
                  <a:tcPr marL="82296" marR="82296" marT="27432" marB="27432" anchor="ctr">
                    <a:solidFill>
                      <a:srgbClr val="E8F3EC"/>
                    </a:solidFill>
                  </a:tcPr>
                </a:tc>
              </a:tr>
              <a:tr h="658368">
                <a:tc>
                  <a:txBody>
                    <a:bodyPr wrap="square"/>
                    <a:lstStyle/>
                    <a:p>
                      <a:pPr algn="l">
                        <a:lnSpc>
                          <a:spcPct val="110000"/>
                        </a:lnSpc>
                        <a:spcBef>
                          <a:spcPts val="0"/>
                        </a:spcBef>
                        <a:spcAft>
                          <a:spcPts val="0"/>
                        </a:spcAft>
                      </a:pPr>
                      <a:r>
                        <a:rPr sz="860" b="0" i="0">
                          <a:solidFill>
                            <a:srgbClr val="0E2419"/>
                          </a:solidFill>
                          <a:latin typeface="Arial"/>
                        </a:rPr>
                        <a:t>Liao et al. (2021)
IEEE Trans. Vehicular Technology</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Segmentasi sampah jalan + Cleanliness Index untuk kendaraan pembersih.</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Dasar konseptual skor kebersihan wilayah 0–100 dan pendekatan tutupan area.</a:t>
                      </a:r>
                    </a:p>
                  </a:txBody>
                  <a:tcPr marL="82296" marR="82296" marT="27432" marB="27432" anchor="ctr">
                    <a:solidFill>
                      <a:srgbClr val="FFFFFF"/>
                    </a:solidFill>
                  </a:tcPr>
                </a:tc>
              </a:tr>
              <a:tr h="658368">
                <a:tc>
                  <a:txBody>
                    <a:bodyPr wrap="square"/>
                    <a:lstStyle/>
                    <a:p>
                      <a:pPr algn="l">
                        <a:lnSpc>
                          <a:spcPct val="110000"/>
                        </a:lnSpc>
                        <a:spcBef>
                          <a:spcPts val="0"/>
                        </a:spcBef>
                        <a:spcAft>
                          <a:spcPts val="0"/>
                        </a:spcAft>
                      </a:pPr>
                      <a:r>
                        <a:rPr sz="860" b="0" i="0">
                          <a:solidFill>
                            <a:srgbClr val="0E2419"/>
                          </a:solidFill>
                          <a:latin typeface="Arial"/>
                        </a:rPr>
                        <a:t>Li, Xu &amp; Liu (2024)
Mathematics 12(14), 2185</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YOLOv8 ringan untuk deteksi solid waste.</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Penekanan efisiensi komputasi — mendukung pilihan centralized inference tanpa GPU di tiap kamera.</a:t>
                      </a:r>
                    </a:p>
                  </a:txBody>
                  <a:tcPr marL="82296" marR="82296" marT="27432" marB="27432" anchor="ctr">
                    <a:solidFill>
                      <a:srgbClr val="E8F3EC"/>
                    </a:solidFill>
                  </a:tcPr>
                </a:tc>
              </a:tr>
              <a:tr h="658368">
                <a:tc>
                  <a:txBody>
                    <a:bodyPr wrap="square"/>
                    <a:lstStyle/>
                    <a:p>
                      <a:pPr algn="l">
                        <a:lnSpc>
                          <a:spcPct val="110000"/>
                        </a:lnSpc>
                        <a:spcBef>
                          <a:spcPts val="0"/>
                        </a:spcBef>
                        <a:spcAft>
                          <a:spcPts val="0"/>
                        </a:spcAft>
                      </a:pPr>
                      <a:r>
                        <a:rPr sz="860" b="0" i="0">
                          <a:solidFill>
                            <a:srgbClr val="0E2419"/>
                          </a:solidFill>
                          <a:latin typeface="Arial"/>
                        </a:rPr>
                        <a:t>Proença &amp; Simões (2020)
TACO, arXiv:2003.06975</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Dataset anotasi sampah dalam konteks (close-up, setinggi mata).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Sumber 1.878 citra positif pelatihan; sekaligus bukti adanya kesenjangan geometri dengan CCTV.</a:t>
                      </a:r>
                    </a:p>
                  </a:txBody>
                  <a:tcPr marL="82296" marR="82296" marT="27432" marB="27432" anchor="ctr">
                    <a:solidFill>
                      <a:srgbClr val="FFFFFF"/>
                    </a:solidFill>
                  </a:tcPr>
                </a:tc>
              </a:tr>
              <a:tr h="658368">
                <a:tc>
                  <a:txBody>
                    <a:bodyPr wrap="square"/>
                    <a:lstStyle/>
                    <a:p>
                      <a:pPr algn="l">
                        <a:lnSpc>
                          <a:spcPct val="110000"/>
                        </a:lnSpc>
                        <a:spcBef>
                          <a:spcPts val="0"/>
                        </a:spcBef>
                        <a:spcAft>
                          <a:spcPts val="0"/>
                        </a:spcAft>
                      </a:pPr>
                      <a:r>
                        <a:rPr sz="860" b="0" i="0">
                          <a:solidFill>
                            <a:srgbClr val="0E2419"/>
                          </a:solidFill>
                          <a:latin typeface="Arial"/>
                        </a:rPr>
                        <a:t>Syahrir et al. (2025)
J. Teknologi Elekterika 22(1)</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Deteksi anomali berbasis CCTV untuk pencegahan banjir akibat sampah di sungai kota.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Menguatkan pembobotan tertinggi pada lokasi sungai/drainase di mesin prioritas.</a:t>
                      </a:r>
                    </a:p>
                  </a:txBody>
                  <a:tcPr marL="82296" marR="82296" marT="27432" marB="27432" anchor="ctr">
                    <a:solidFill>
                      <a:srgbClr val="E8F3E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Referensi jurnal</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Rujukan pendukung &amp; konteks Indonesia</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Konteks nasional penting: penerapan YOLO untuk persampahan sudah banyak, namun hampir seluruhnya berhenti pada klasifikasi objek.</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12 / 37</a:t>
            </a:r>
          </a:p>
        </p:txBody>
      </p:sp>
      <p:sp>
        <p:nvSpPr>
          <p:cNvPr id="9" name="TextBox 8"/>
          <p:cNvSpPr txBox="1"/>
          <p:nvPr/>
        </p:nvSpPr>
        <p:spPr>
          <a:xfrm>
            <a:off x="658368" y="1847088"/>
            <a:ext cx="5274355"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0E2419"/>
                </a:solidFill>
                <a:latin typeface="Trebuchet MS"/>
              </a:rPr>
              <a:t>Konteks Indonesia — YOLO untuk persampahan</a:t>
            </a:r>
          </a:p>
        </p:txBody>
      </p:sp>
      <p:sp>
        <p:nvSpPr>
          <p:cNvPr id="10" name="Rounded Rectangle 9"/>
          <p:cNvSpPr/>
          <p:nvPr/>
        </p:nvSpPr>
        <p:spPr>
          <a:xfrm>
            <a:off x="658368" y="2272284"/>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2194560"/>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Abdillah et al. (2024) — klasifikasi organik/anorganik, YOLOv5 berbasis web.</a:t>
            </a:r>
          </a:p>
        </p:txBody>
      </p:sp>
      <p:sp>
        <p:nvSpPr>
          <p:cNvPr id="12" name="Rounded Rectangle 11"/>
          <p:cNvSpPr/>
          <p:nvPr/>
        </p:nvSpPr>
        <p:spPr>
          <a:xfrm>
            <a:off x="658368" y="2678811"/>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2601087"/>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Arvio, Kusuma &amp; Sangadji (2024) — deteksi sampah anorganik dengan YOLOv8.</a:t>
            </a:r>
          </a:p>
        </p:txBody>
      </p:sp>
      <p:sp>
        <p:nvSpPr>
          <p:cNvPr id="14" name="Rounded Rectangle 13"/>
          <p:cNvSpPr/>
          <p:nvPr/>
        </p:nvSpPr>
        <p:spPr>
          <a:xfrm>
            <a:off x="658368" y="3085338"/>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3007614"/>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Fahmi, Pradhana &amp; Nurahman (2025) — YOLO pada dataset Roboflow.</a:t>
            </a:r>
          </a:p>
        </p:txBody>
      </p:sp>
      <p:sp>
        <p:nvSpPr>
          <p:cNvPr id="16" name="Rounded Rectangle 15"/>
          <p:cNvSpPr/>
          <p:nvPr/>
        </p:nvSpPr>
        <p:spPr>
          <a:xfrm>
            <a:off x="658368" y="3325177"/>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247453"/>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Firdaus, Lelono &amp; Natan (2025) — klasifikasi real-time pada single board computer.</a:t>
            </a:r>
          </a:p>
        </p:txBody>
      </p:sp>
      <p:sp>
        <p:nvSpPr>
          <p:cNvPr id="18" name="Rounded Rectangle 17"/>
          <p:cNvSpPr/>
          <p:nvPr/>
        </p:nvSpPr>
        <p:spPr>
          <a:xfrm>
            <a:off x="658368" y="3731704"/>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14400" y="3653980"/>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Honnainah &amp; Pawening (2023) — deteksi pelanggaran pembuang sampah.</a:t>
            </a:r>
          </a:p>
        </p:txBody>
      </p:sp>
      <p:sp>
        <p:nvSpPr>
          <p:cNvPr id="20" name="Rounded Rectangle 19"/>
          <p:cNvSpPr/>
          <p:nvPr/>
        </p:nvSpPr>
        <p:spPr>
          <a:xfrm>
            <a:off x="658368" y="3971544"/>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14400" y="3893820"/>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Maulidiansyah &amp; Yaqin (2023) — deteksi tumpukan sampah dengan YOLO.</a:t>
            </a:r>
          </a:p>
        </p:txBody>
      </p:sp>
      <p:sp>
        <p:nvSpPr>
          <p:cNvPr id="22" name="Rounded Rectangle 21"/>
          <p:cNvSpPr/>
          <p:nvPr/>
        </p:nvSpPr>
        <p:spPr>
          <a:xfrm>
            <a:off x="658368" y="4211383"/>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14400" y="4133659"/>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Prasetio &amp; Pratiwi (2025); Yasiri, Prathivi &amp; Susanto (2024) — YOLOv5/v8 untuk botol plastik.</a:t>
            </a:r>
          </a:p>
        </p:txBody>
      </p:sp>
      <p:sp>
        <p:nvSpPr>
          <p:cNvPr id="24" name="Rounded Rectangle 23"/>
          <p:cNvSpPr/>
          <p:nvPr/>
        </p:nvSpPr>
        <p:spPr>
          <a:xfrm>
            <a:off x="658368" y="4617910"/>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14400" y="4540186"/>
            <a:ext cx="5018323"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Supriatman, Ramadhan &amp; Baehaki (2026) — identifikasi jenis + estimasi volume di Android.</a:t>
            </a:r>
          </a:p>
        </p:txBody>
      </p:sp>
      <p:sp>
        <p:nvSpPr>
          <p:cNvPr id="26" name="TextBox 25"/>
          <p:cNvSpPr txBox="1"/>
          <p:nvPr/>
        </p:nvSpPr>
        <p:spPr>
          <a:xfrm>
            <a:off x="6243619" y="1847088"/>
            <a:ext cx="5289707"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0E2419"/>
                </a:solidFill>
                <a:latin typeface="Trebuchet MS"/>
              </a:rPr>
              <a:t>Tinjauan &amp; prospek AI persampahan</a:t>
            </a:r>
          </a:p>
        </p:txBody>
      </p:sp>
      <p:sp>
        <p:nvSpPr>
          <p:cNvPr id="27" name="Rounded Rectangle 26"/>
          <p:cNvSpPr/>
          <p:nvPr/>
        </p:nvSpPr>
        <p:spPr>
          <a:xfrm>
            <a:off x="6243619" y="2272284"/>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99651" y="2194560"/>
            <a:ext cx="5033675"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Belyamani (2025) — Waste Management Bulletin 3(4): aplikasi, tantangan, prospek AI.</a:t>
            </a:r>
          </a:p>
        </p:txBody>
      </p:sp>
      <p:sp>
        <p:nvSpPr>
          <p:cNvPr id="29" name="Rounded Rectangle 28"/>
          <p:cNvSpPr/>
          <p:nvPr/>
        </p:nvSpPr>
        <p:spPr>
          <a:xfrm>
            <a:off x="6243619" y="2678811"/>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99651" y="2601087"/>
            <a:ext cx="5033675"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El Jaouhari et al. (2025) — J. Environmental Management 373: tinjauan mendalam AI untuk municipal waste.</a:t>
            </a:r>
          </a:p>
        </p:txBody>
      </p:sp>
      <p:sp>
        <p:nvSpPr>
          <p:cNvPr id="31" name="Rounded Rectangle 30"/>
          <p:cNvSpPr/>
          <p:nvPr/>
        </p:nvSpPr>
        <p:spPr>
          <a:xfrm>
            <a:off x="6243619" y="3085338"/>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99651" y="3007614"/>
            <a:ext cx="5033675"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IAP (2022) — Indonesia Most Livable City Index.</a:t>
            </a:r>
          </a:p>
        </p:txBody>
      </p:sp>
      <p:sp>
        <p:nvSpPr>
          <p:cNvPr id="33" name="Rounded Rectangle 32"/>
          <p:cNvSpPr/>
          <p:nvPr/>
        </p:nvSpPr>
        <p:spPr>
          <a:xfrm>
            <a:off x="6243619" y="3325177"/>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99651" y="3247453"/>
            <a:ext cx="5033675"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KLHK — Sistem Informasi Pengelolaan Sampah Nasional (SIPSN).</a:t>
            </a:r>
          </a:p>
        </p:txBody>
      </p:sp>
      <p:sp>
        <p:nvSpPr>
          <p:cNvPr id="35" name="Rounded Rectangle 34"/>
          <p:cNvSpPr/>
          <p:nvPr/>
        </p:nvSpPr>
        <p:spPr>
          <a:xfrm>
            <a:off x="6243619" y="3565016"/>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99651" y="3487293"/>
            <a:ext cx="5033675" cy="365760"/>
          </a:xfrm>
          <a:prstGeom prst="rect">
            <a:avLst/>
          </a:prstGeom>
          <a:noFill/>
        </p:spPr>
        <p:txBody>
          <a:bodyPr wrap="square" lIns="0" rIns="0" tIns="0" bIns="0" anchor="t">
            <a:spAutoFit/>
          </a:bodyPr>
          <a:lstStyle/>
          <a:p>
            <a:pPr algn="l">
              <a:lnSpc>
                <a:spcPct val="125000"/>
              </a:lnSpc>
              <a:spcBef>
                <a:spcPts val="0"/>
              </a:spcBef>
              <a:spcAft>
                <a:spcPts val="0"/>
              </a:spcAft>
            </a:pPr>
            <a:r>
              <a:rPr sz="1050" b="0" i="0">
                <a:solidFill>
                  <a:srgbClr val="0E2419"/>
                </a:solidFill>
                <a:latin typeface="Arial"/>
              </a:rPr>
              <a:t>Jocher et al. (2020) — YOLOv5 by Ultralytics v7.0.</a:t>
            </a:r>
          </a:p>
        </p:txBody>
      </p:sp>
      <p:sp>
        <p:nvSpPr>
          <p:cNvPr id="37" name="Rounded Rectangle 36"/>
          <p:cNvSpPr/>
          <p:nvPr/>
        </p:nvSpPr>
        <p:spPr>
          <a:xfrm>
            <a:off x="6243619" y="4334256"/>
            <a:ext cx="5289707" cy="1074419"/>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43619" y="4334256"/>
            <a:ext cx="54864" cy="1074419"/>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81363" y="4489704"/>
            <a:ext cx="4832507"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Pola yang kami temukan di literatur nasional</a:t>
            </a:r>
          </a:p>
        </p:txBody>
      </p:sp>
      <p:sp>
        <p:nvSpPr>
          <p:cNvPr id="40" name="TextBox 39"/>
          <p:cNvSpPr txBox="1"/>
          <p:nvPr/>
        </p:nvSpPr>
        <p:spPr>
          <a:xfrm>
            <a:off x="6481363" y="4754880"/>
            <a:ext cx="4832507"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Mayoritas berhenti pada akurasi klasifikasi jenis sampah. Hampir tidak ada yang melanjutkan ke durasi, prioritas, penugasan, maupun SLA — padahal justru di situ nilai operasionalnya berada.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Research gap</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Tiga celah yang kami jawab</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13 / 37</a:t>
            </a:r>
          </a:p>
        </p:txBody>
      </p:sp>
      <p:sp>
        <p:nvSpPr>
          <p:cNvPr id="8" name="Rounded Rectangle 7"/>
          <p:cNvSpPr/>
          <p:nvPr/>
        </p:nvSpPr>
        <p:spPr>
          <a:xfrm>
            <a:off x="658368" y="1389888"/>
            <a:ext cx="3454298" cy="3246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1389888"/>
            <a:ext cx="50292" cy="324612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5636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Kebutuhan operasional tidak berhenti pada bounding box</a:t>
            </a:r>
          </a:p>
        </p:txBody>
      </p:sp>
      <p:sp>
        <p:nvSpPr>
          <p:cNvPr id="11" name="TextBox 10"/>
          <p:cNvSpPr txBox="1"/>
          <p:nvPr/>
        </p:nvSpPr>
        <p:spPr>
          <a:xfrm>
            <a:off x="896112" y="1929384"/>
            <a:ext cx="2997098" cy="2697479"/>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Sebagian besar penelitian berhenti pada metrik akurasi. Sebuah kotak deteksi tidak memberi tahu petugas ke mana harus pergi, mana yang didahulukan, atau apakah pekerjaannya sudah selesai.
Jawaban NOVIRA: rantai penuh detection → persistence → duration → incident → evidence → priority → response → action → evaluation.</a:t>
            </a:r>
          </a:p>
        </p:txBody>
      </p:sp>
      <p:sp>
        <p:nvSpPr>
          <p:cNvPr id="12" name="Rounded Rectangle 11"/>
          <p:cNvSpPr/>
          <p:nvPr/>
        </p:nvSpPr>
        <p:spPr>
          <a:xfrm>
            <a:off x="4368698" y="1389888"/>
            <a:ext cx="3454298" cy="3246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8698" y="1389888"/>
            <a:ext cx="50292" cy="324612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06442" y="15636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Dataset publik dibangun dari geometri yang berbeda</a:t>
            </a:r>
          </a:p>
        </p:txBody>
      </p:sp>
      <p:sp>
        <p:nvSpPr>
          <p:cNvPr id="15" name="TextBox 14"/>
          <p:cNvSpPr txBox="1"/>
          <p:nvPr/>
        </p:nvSpPr>
        <p:spPr>
          <a:xfrm>
            <a:off x="4606442" y="1929384"/>
            <a:ext cx="2997098" cy="2697479"/>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TACO tersusun dari foto close-up setinggi mata; pLitterStreet dari kamera pada kendaraan. Keduanya tidak mewakili kamera pengawasan yang dipasang tinggi, bersudut lebar, membidik badan jalan dari 20–30 meter.
Jawaban NOVIRA: mengukur besar kesenjangan itu secara kuantitatif, lalu merancang jalur penutupannya.</a:t>
            </a:r>
          </a:p>
        </p:txBody>
      </p:sp>
      <p:sp>
        <p:nvSpPr>
          <p:cNvPr id="16" name="Rounded Rectangle 15"/>
          <p:cNvSpPr/>
          <p:nvPr/>
        </p:nvSpPr>
        <p:spPr>
          <a:xfrm>
            <a:off x="8079028" y="1389888"/>
            <a:ext cx="3454298" cy="3246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79028" y="1389888"/>
            <a:ext cx="50292" cy="324612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16772" y="15636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Asumsi ketersediaan video kontinu jarang diuji</a:t>
            </a:r>
          </a:p>
        </p:txBody>
      </p:sp>
      <p:sp>
        <p:nvSpPr>
          <p:cNvPr id="19" name="TextBox 18"/>
          <p:cNvSpPr txBox="1"/>
          <p:nvPr/>
        </p:nvSpPr>
        <p:spPr>
          <a:xfrm>
            <a:off x="8316772" y="1929384"/>
            <a:ext cx="2997098" cy="2697479"/>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Object tracking antar-frame mensyaratkan akses RTSP ke perangkat. Yang tersedia bagi pihak ketiga adalah HLS hasil transcode dengan kualitas yang tidak dapat dikendalikan.
Jawaban NOVIRA: persistensi berbasis pencocokan IoU antar-snapshot — tujuan yang sama, biaya komputasi dan bandwidth jauh lebih kecil.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Motivasi</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Mengapa kami memilih membangun ini</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Empat alasan: peluang yang sudah tersedia, celah yang jelas, dampak yang terukur, dan kejujuran yang mungkin dibuktikan.</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14 / 37</a:t>
            </a:r>
          </a:p>
        </p:txBody>
      </p:sp>
      <p:sp>
        <p:nvSpPr>
          <p:cNvPr id="9" name="Rounded Rectangle 8"/>
          <p:cNvSpPr/>
          <p:nvPr/>
        </p:nvSpPr>
        <p:spPr>
          <a:xfrm>
            <a:off x="658368" y="1847088"/>
            <a:ext cx="2526715"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15544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Infrastrukturnya sudah terpasang</a:t>
            </a:r>
          </a:p>
        </p:txBody>
      </p:sp>
      <p:sp>
        <p:nvSpPr>
          <p:cNvPr id="12" name="TextBox 11"/>
          <p:cNvSpPr txBox="1"/>
          <p:nvPr/>
        </p:nvSpPr>
        <p:spPr>
          <a:xfrm>
            <a:off x="896112" y="2386584"/>
            <a:ext cx="2069515"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Ratusan kamera ATCS sudah beroperasi dan streamnya publik. Nol biaya perangkat baru — hambatan adopsi terbesar bagi pemda hilang.</a:t>
            </a:r>
          </a:p>
        </p:txBody>
      </p:sp>
      <p:sp>
        <p:nvSpPr>
          <p:cNvPr id="13" name="Rounded Rectangle 12"/>
          <p:cNvSpPr/>
          <p:nvPr/>
        </p:nvSpPr>
        <p:spPr>
          <a:xfrm>
            <a:off x="3441115" y="1847088"/>
            <a:ext cx="2526715"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41115" y="1847088"/>
            <a:ext cx="50292" cy="155448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78859"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Datanya nyata, bukan simulasi</a:t>
            </a:r>
          </a:p>
        </p:txBody>
      </p:sp>
      <p:sp>
        <p:nvSpPr>
          <p:cNvPr id="16" name="TextBox 15"/>
          <p:cNvSpPr txBox="1"/>
          <p:nvPr/>
        </p:nvSpPr>
        <p:spPr>
          <a:xfrm>
            <a:off x="3678859" y="2386584"/>
            <a:ext cx="2069515"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290 stream CCTV asli Kota Bandung diuji satu per satu. Sistem dapat didemokan tanpa kamera fisik sendiri.</a:t>
            </a:r>
          </a:p>
        </p:txBody>
      </p:sp>
      <p:sp>
        <p:nvSpPr>
          <p:cNvPr id="17" name="Rounded Rectangle 16"/>
          <p:cNvSpPr/>
          <p:nvPr/>
        </p:nvSpPr>
        <p:spPr>
          <a:xfrm>
            <a:off x="6223863" y="1847088"/>
            <a:ext cx="2526715"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47088"/>
            <a:ext cx="50292" cy="155448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61607"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Celah risetnya spesifik dan terukur</a:t>
            </a:r>
          </a:p>
        </p:txBody>
      </p:sp>
      <p:sp>
        <p:nvSpPr>
          <p:cNvPr id="20" name="TextBox 19"/>
          <p:cNvSpPr txBox="1"/>
          <p:nvPr/>
        </p:nvSpPr>
        <p:spPr>
          <a:xfrm>
            <a:off x="6461607" y="2386584"/>
            <a:ext cx="2069515"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Bukan mengulang klasifikasi jenis sampah, melainkan menjawab apa yang terjadi setelah deteksi.</a:t>
            </a:r>
          </a:p>
        </p:txBody>
      </p:sp>
      <p:sp>
        <p:nvSpPr>
          <p:cNvPr id="21" name="Rounded Rectangle 20"/>
          <p:cNvSpPr/>
          <p:nvPr/>
        </p:nvSpPr>
        <p:spPr>
          <a:xfrm>
            <a:off x="9006611" y="1847088"/>
            <a:ext cx="2526715" cy="155448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06611" y="1847088"/>
            <a:ext cx="50292" cy="155448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44355"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Dampaknya langsung ke keputusan</a:t>
            </a:r>
          </a:p>
        </p:txBody>
      </p:sp>
      <p:sp>
        <p:nvSpPr>
          <p:cNvPr id="24" name="TextBox 23"/>
          <p:cNvSpPr txBox="1"/>
          <p:nvPr/>
        </p:nvSpPr>
        <p:spPr>
          <a:xfrm>
            <a:off x="9244355" y="2386584"/>
            <a:ext cx="2069515" cy="100584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Durasi, kekambuhan, dan skor wilayah adalah angka yang bisa dipakai kepala dinas besok pagi.</a:t>
            </a:r>
          </a:p>
        </p:txBody>
      </p:sp>
      <p:sp>
        <p:nvSpPr>
          <p:cNvPr id="25" name="TextBox 24"/>
          <p:cNvSpPr txBox="1"/>
          <p:nvPr/>
        </p:nvSpPr>
        <p:spPr>
          <a:xfrm>
            <a:off x="658368" y="3776472"/>
            <a:ext cx="10874959"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0E2419"/>
                </a:solidFill>
                <a:latin typeface="Trebuchet MS"/>
              </a:rPr>
              <a:t>Dan satu alasan yang paling menentukan</a:t>
            </a:r>
          </a:p>
        </p:txBody>
      </p:sp>
      <p:sp>
        <p:nvSpPr>
          <p:cNvPr id="26" name="Rounded Rectangle 25"/>
          <p:cNvSpPr/>
          <p:nvPr/>
        </p:nvSpPr>
        <p:spPr>
          <a:xfrm>
            <a:off x="658368" y="4105656"/>
            <a:ext cx="10874959" cy="1074419"/>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4105656"/>
            <a:ext cx="54864" cy="1074419"/>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96112" y="4261104"/>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Sistem yang diketahui batasnya lebih dapat dipercaya daripada sistem yang diklaim sempurna</a:t>
            </a:r>
          </a:p>
        </p:txBody>
      </p:sp>
      <p:sp>
        <p:nvSpPr>
          <p:cNvPr id="29" name="TextBox 28"/>
          <p:cNvSpPr txBox="1"/>
          <p:nvPr/>
        </p:nvSpPr>
        <p:spPr>
          <a:xfrm>
            <a:off x="896112" y="4526280"/>
            <a:ext cx="10417759"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Kami memilih masalah yang memungkinkan pengukuran jujur. Ketika model publik ternyata gagal pada CCTV Bandung, temuan itu tidak kami sembunyikan — kami jadikan bab tersendiri, lengkap dengan bukti visual dan rancangan perbaikannya. Karya yang mengukur dirinya sendiri lebih berguna bagi pemerintah daerah daripada demo yang selalu berhasil.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86968" y="1874519"/>
            <a:ext cx="6035040" cy="64008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BAGIAN 03</a:t>
            </a:r>
          </a:p>
        </p:txBody>
      </p:sp>
      <p:sp>
        <p:nvSpPr>
          <p:cNvPr id="5" name="TextBox 4"/>
          <p:cNvSpPr txBox="1"/>
          <p:nvPr/>
        </p:nvSpPr>
        <p:spPr>
          <a:xfrm>
            <a:off x="886968" y="2212848"/>
            <a:ext cx="7498079" cy="109728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Trebuchet MS"/>
              </a:rPr>
              <a:t>Solusi &amp;
Alur Sistem</a:t>
            </a:r>
          </a:p>
        </p:txBody>
      </p:sp>
      <p:sp>
        <p:nvSpPr>
          <p:cNvPr id="6" name="TextBox 5"/>
          <p:cNvSpPr txBox="1"/>
          <p:nvPr/>
        </p:nvSpPr>
        <p:spPr>
          <a:xfrm>
            <a:off x="886968" y="3520440"/>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E8F3EC"/>
                </a:solidFill>
                <a:latin typeface="Arial"/>
              </a:rPr>
              <a:t>Dari satu frame CCTV sampai status SELESAI dengan foto bukti — satu rantai yang tidak terputus.</a:t>
            </a:r>
          </a:p>
        </p:txBody>
      </p:sp>
      <p:sp>
        <p:nvSpPr>
          <p:cNvPr id="7" name="Rounded Rectangle 6"/>
          <p:cNvSpPr/>
          <p:nvPr/>
        </p:nvSpPr>
        <p:spPr>
          <a:xfrm>
            <a:off x="7680960" y="2340864"/>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73568" y="2231136"/>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Dua jalur masuk: CCTV &amp; laporan warga</a:t>
            </a:r>
          </a:p>
        </p:txBody>
      </p:sp>
      <p:sp>
        <p:nvSpPr>
          <p:cNvPr id="9" name="Rounded Rectangle 8"/>
          <p:cNvSpPr/>
          <p:nvPr/>
        </p:nvSpPr>
        <p:spPr>
          <a:xfrm>
            <a:off x="7680960" y="2907792"/>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73568" y="2798064"/>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Prioritas 0–100 yang dapat dijelaskan</a:t>
            </a:r>
          </a:p>
        </p:txBody>
      </p:sp>
      <p:sp>
        <p:nvSpPr>
          <p:cNvPr id="11" name="Rounded Rectangle 10"/>
          <p:cNvSpPr/>
          <p:nvPr/>
        </p:nvSpPr>
        <p:spPr>
          <a:xfrm>
            <a:off x="7680960" y="3474720"/>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73568" y="3364992"/>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Eskalasi SLA 12 / 24 / 48 jam</a:t>
            </a:r>
          </a:p>
        </p:txBody>
      </p:sp>
      <p:sp>
        <p:nvSpPr>
          <p:cNvPr id="13" name="Rounded Rectangle 12"/>
          <p:cNvSpPr/>
          <p:nvPr/>
        </p:nvSpPr>
        <p:spPr>
          <a:xfrm>
            <a:off x="7680960" y="4041647"/>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73568" y="3931919"/>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Analitik turunan: titik kronis &amp; jam rawan</a:t>
            </a:r>
          </a:p>
        </p:txBody>
      </p:sp>
      <p:sp>
        <p:nvSpPr>
          <p:cNvPr id="15" name="TextBox 14"/>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35A46F"/>
                </a:solidFill>
                <a:latin typeface="Trebuchet MS"/>
              </a:rPr>
              <a:t>NOVIRA · Detect Today, Keep Tomorrow</a:t>
            </a:r>
          </a:p>
        </p:txBody>
      </p:sp>
      <p:sp>
        <p:nvSpPr>
          <p:cNvPr id="16" name="TextBox 15"/>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Konsep</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NOVIRA — Nature, Vision, Response, Action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Akronimnya bukan hiasan: keempat unsurnya masing-masing menjadi lapisan nyata di dalam sistem.</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16 / 37</a:t>
            </a:r>
          </a:p>
        </p:txBody>
      </p:sp>
      <p:sp>
        <p:nvSpPr>
          <p:cNvPr id="9" name="Rounded Rectangle 8"/>
          <p:cNvSpPr/>
          <p:nvPr/>
        </p:nvSpPr>
        <p:spPr>
          <a:xfrm>
            <a:off x="658368" y="1847088"/>
            <a:ext cx="2526715"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148132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0E2419"/>
                </a:solidFill>
                <a:latin typeface="Trebuchet MS"/>
              </a:rPr>
              <a:t>Nature</a:t>
            </a:r>
          </a:p>
        </p:txBody>
      </p:sp>
      <p:sp>
        <p:nvSpPr>
          <p:cNvPr id="12" name="TextBox 11"/>
          <p:cNvSpPr txBox="1"/>
          <p:nvPr/>
        </p:nvSpPr>
        <p:spPr>
          <a:xfrm>
            <a:off x="896112" y="2331720"/>
            <a:ext cx="2069515"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Orientasi lingkungan dan kebersihan kota — skor kebersihan wilayah, titik kronis, dan usulan intervensi struktural.</a:t>
            </a:r>
          </a:p>
        </p:txBody>
      </p:sp>
      <p:sp>
        <p:nvSpPr>
          <p:cNvPr id="13" name="Rounded Rectangle 12"/>
          <p:cNvSpPr/>
          <p:nvPr/>
        </p:nvSpPr>
        <p:spPr>
          <a:xfrm>
            <a:off x="3441115" y="1847088"/>
            <a:ext cx="2526715"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41115" y="1847088"/>
            <a:ext cx="50292" cy="1481328"/>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78859"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0E2419"/>
                </a:solidFill>
                <a:latin typeface="Trebuchet MS"/>
              </a:rPr>
              <a:t>Vision</a:t>
            </a:r>
          </a:p>
        </p:txBody>
      </p:sp>
      <p:sp>
        <p:nvSpPr>
          <p:cNvPr id="16" name="TextBox 15"/>
          <p:cNvSpPr txBox="1"/>
          <p:nvPr/>
        </p:nvSpPr>
        <p:spPr>
          <a:xfrm>
            <a:off x="3678859" y="2331720"/>
            <a:ext cx="2069515"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CCTV dan Computer Vision sebagai mata sistem — 290 kamera, sliced inference, ROI per kamera.</a:t>
            </a:r>
          </a:p>
        </p:txBody>
      </p:sp>
      <p:sp>
        <p:nvSpPr>
          <p:cNvPr id="17" name="Rounded Rectangle 16"/>
          <p:cNvSpPr/>
          <p:nvPr/>
        </p:nvSpPr>
        <p:spPr>
          <a:xfrm>
            <a:off x="6223863" y="1847088"/>
            <a:ext cx="2526715"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47088"/>
            <a:ext cx="50292" cy="1481328"/>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61607"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0E2419"/>
                </a:solidFill>
                <a:latin typeface="Trebuchet MS"/>
              </a:rPr>
              <a:t>Response</a:t>
            </a:r>
          </a:p>
        </p:txBody>
      </p:sp>
      <p:sp>
        <p:nvSpPr>
          <p:cNvPr id="20" name="TextBox 19"/>
          <p:cNvSpPr txBox="1"/>
          <p:nvPr/>
        </p:nvSpPr>
        <p:spPr>
          <a:xfrm>
            <a:off x="6461607" y="2331720"/>
            <a:ext cx="2069515"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Incident, notifikasi, penugasan petugas, dan pemantauan SLA berjenjang.</a:t>
            </a:r>
          </a:p>
        </p:txBody>
      </p:sp>
      <p:sp>
        <p:nvSpPr>
          <p:cNvPr id="21" name="Rounded Rectangle 20"/>
          <p:cNvSpPr/>
          <p:nvPr/>
        </p:nvSpPr>
        <p:spPr>
          <a:xfrm>
            <a:off x="9006611" y="1847088"/>
            <a:ext cx="2526715" cy="1481328"/>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006611" y="1847088"/>
            <a:ext cx="50292" cy="1481328"/>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244355" y="2020824"/>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500" b="1" i="0">
                <a:solidFill>
                  <a:srgbClr val="0E2419"/>
                </a:solidFill>
                <a:latin typeface="Trebuchet MS"/>
              </a:rPr>
              <a:t>Action</a:t>
            </a:r>
          </a:p>
        </p:txBody>
      </p:sp>
      <p:sp>
        <p:nvSpPr>
          <p:cNvPr id="24" name="TextBox 23"/>
          <p:cNvSpPr txBox="1"/>
          <p:nvPr/>
        </p:nvSpPr>
        <p:spPr>
          <a:xfrm>
            <a:off x="9244355" y="2331720"/>
            <a:ext cx="2069515" cy="932688"/>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Penanganan di lapangan, foto bukti, lalu evaluasi hasilnya per wilayah dan per petugas.</a:t>
            </a:r>
          </a:p>
        </p:txBody>
      </p:sp>
      <p:sp>
        <p:nvSpPr>
          <p:cNvPr id="25" name="Chevron 24"/>
          <p:cNvSpPr/>
          <p:nvPr/>
        </p:nvSpPr>
        <p:spPr>
          <a:xfrm>
            <a:off x="658368" y="3739896"/>
            <a:ext cx="1159560" cy="566928"/>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DETECTION</a:t>
            </a:r>
          </a:p>
        </p:txBody>
      </p:sp>
      <p:sp>
        <p:nvSpPr>
          <p:cNvPr id="26" name="Chevron 25"/>
          <p:cNvSpPr/>
          <p:nvPr/>
        </p:nvSpPr>
        <p:spPr>
          <a:xfrm>
            <a:off x="1872792" y="3739896"/>
            <a:ext cx="1159560" cy="566928"/>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PERSISTENCE</a:t>
            </a:r>
          </a:p>
        </p:txBody>
      </p:sp>
      <p:sp>
        <p:nvSpPr>
          <p:cNvPr id="27" name="Chevron 26"/>
          <p:cNvSpPr/>
          <p:nvPr/>
        </p:nvSpPr>
        <p:spPr>
          <a:xfrm>
            <a:off x="3087217" y="3739896"/>
            <a:ext cx="1159560" cy="566928"/>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DURATION</a:t>
            </a:r>
          </a:p>
        </p:txBody>
      </p:sp>
      <p:sp>
        <p:nvSpPr>
          <p:cNvPr id="28" name="Chevron 27"/>
          <p:cNvSpPr/>
          <p:nvPr/>
        </p:nvSpPr>
        <p:spPr>
          <a:xfrm>
            <a:off x="4301642" y="3739896"/>
            <a:ext cx="1159560" cy="566928"/>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INCIDENT</a:t>
            </a:r>
          </a:p>
        </p:txBody>
      </p:sp>
      <p:sp>
        <p:nvSpPr>
          <p:cNvPr id="29" name="Chevron 28"/>
          <p:cNvSpPr/>
          <p:nvPr/>
        </p:nvSpPr>
        <p:spPr>
          <a:xfrm>
            <a:off x="5516067" y="3739896"/>
            <a:ext cx="1159560" cy="566928"/>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EVIDENCE</a:t>
            </a:r>
          </a:p>
        </p:txBody>
      </p:sp>
      <p:sp>
        <p:nvSpPr>
          <p:cNvPr id="30" name="Chevron 29"/>
          <p:cNvSpPr/>
          <p:nvPr/>
        </p:nvSpPr>
        <p:spPr>
          <a:xfrm>
            <a:off x="6730492" y="3739896"/>
            <a:ext cx="1159560" cy="566928"/>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PRIORITY</a:t>
            </a:r>
          </a:p>
        </p:txBody>
      </p:sp>
      <p:sp>
        <p:nvSpPr>
          <p:cNvPr id="31" name="Chevron 30"/>
          <p:cNvSpPr/>
          <p:nvPr/>
        </p:nvSpPr>
        <p:spPr>
          <a:xfrm>
            <a:off x="7944916" y="3739896"/>
            <a:ext cx="1159560" cy="566928"/>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RESPONSE</a:t>
            </a:r>
          </a:p>
        </p:txBody>
      </p:sp>
      <p:sp>
        <p:nvSpPr>
          <p:cNvPr id="32" name="Chevron 31"/>
          <p:cNvSpPr/>
          <p:nvPr/>
        </p:nvSpPr>
        <p:spPr>
          <a:xfrm>
            <a:off x="9159341" y="3739896"/>
            <a:ext cx="1159560" cy="566928"/>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ACTION</a:t>
            </a:r>
          </a:p>
        </p:txBody>
      </p:sp>
      <p:sp>
        <p:nvSpPr>
          <p:cNvPr id="33" name="Chevron 32"/>
          <p:cNvSpPr/>
          <p:nvPr/>
        </p:nvSpPr>
        <p:spPr>
          <a:xfrm>
            <a:off x="10373766" y="3739896"/>
            <a:ext cx="1159560" cy="566928"/>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EVALUATION</a:t>
            </a:r>
          </a:p>
        </p:txBody>
      </p:sp>
      <p:sp>
        <p:nvSpPr>
          <p:cNvPr id="34" name="TextBox 33"/>
          <p:cNvSpPr txBox="1"/>
          <p:nvPr/>
        </p:nvSpPr>
        <p:spPr>
          <a:xfrm>
            <a:off x="658368" y="4489704"/>
            <a:ext cx="10874959" cy="548640"/>
          </a:xfrm>
          <a:prstGeom prst="rect">
            <a:avLst/>
          </a:prstGeom>
          <a:noFill/>
        </p:spPr>
        <p:txBody>
          <a:bodyPr wrap="square" lIns="0" rIns="0" tIns="0" bIns="0" anchor="t">
            <a:spAutoFit/>
          </a:bodyPr>
          <a:lstStyle/>
          <a:p>
            <a:pPr algn="l">
              <a:lnSpc>
                <a:spcPct val="130000"/>
              </a:lnSpc>
              <a:spcBef>
                <a:spcPts val="0"/>
              </a:spcBef>
              <a:spcAft>
                <a:spcPts val="0"/>
              </a:spcAft>
            </a:pPr>
            <a:r>
              <a:rPr sz="1200" b="0" i="0">
                <a:solidFill>
                  <a:srgbClr val="5F7568"/>
                </a:solidFill>
                <a:latin typeface="Arial"/>
              </a:rPr>
              <a:t>Tagline: </a:t>
            </a:r>
            <a:r>
              <a:rPr sz="1200" b="1" i="0">
                <a:solidFill>
                  <a:srgbClr val="1B7A50"/>
                </a:solidFill>
                <a:latin typeface="Arial"/>
              </a:rPr>
              <a:t>“Detect Today, Keep Tomorrow”</a:t>
            </a:r>
            <a:r>
              <a:rPr sz="1200" b="0" i="0">
                <a:solidFill>
                  <a:srgbClr val="5F7568"/>
                </a:solidFill>
                <a:latin typeface="Arial"/>
              </a:rPr>
              <a:t>  — menegaskan bahwa nilai sistem ini bukan pada deteksinya semata, melainkan pada tindakan yang mengikutinya.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Alur sistem</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Dua jalur masuk, satu entitas, satu perlakuan SLA</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17 / 37</a:t>
            </a:r>
          </a:p>
        </p:txBody>
      </p:sp>
      <p:sp>
        <p:nvSpPr>
          <p:cNvPr id="8" name="Rounded Rectangle 7"/>
          <p:cNvSpPr/>
          <p:nvPr/>
        </p:nvSpPr>
        <p:spPr>
          <a:xfrm>
            <a:off x="658368" y="1389888"/>
            <a:ext cx="5002481" cy="868680"/>
          </a:xfrm>
          <a:prstGeom prst="roundRect">
            <a:avLst>
              <a:gd name="adj" fmla="val 8000"/>
            </a:avLst>
          </a:prstGeom>
          <a:solidFill>
            <a:srgbClr val="E8F3EC"/>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1536192"/>
            <a:ext cx="4545281" cy="640080"/>
          </a:xfrm>
          <a:prstGeom prst="rect">
            <a:avLst/>
          </a:prstGeom>
          <a:noFill/>
        </p:spPr>
        <p:txBody>
          <a:bodyPr wrap="square" lIns="0" rIns="0" tIns="0" bIns="0" anchor="t">
            <a:spAutoFit/>
          </a:bodyPr>
          <a:lstStyle/>
          <a:p>
            <a:pPr algn="l">
              <a:lnSpc>
                <a:spcPct val="112000"/>
              </a:lnSpc>
              <a:spcBef>
                <a:spcPts val="0"/>
              </a:spcBef>
              <a:spcAft>
                <a:spcPts val="400"/>
              </a:spcAft>
            </a:pPr>
            <a:r>
              <a:rPr sz="950" b="1" i="0" cap="all" spc="80">
                <a:solidFill>
                  <a:srgbClr val="1B7A50"/>
                </a:solidFill>
                <a:latin typeface="Trebuchet MS"/>
              </a:rPr>
              <a:t>JALUR OTOMATIS — CCTV KOTA</a:t>
            </a:r>
          </a:p>
          <a:p>
            <a:pPr algn="l">
              <a:lnSpc>
                <a:spcPct val="122000"/>
              </a:lnSpc>
              <a:spcBef>
                <a:spcPts val="0"/>
              </a:spcBef>
              <a:spcAft>
                <a:spcPts val="400"/>
              </a:spcAft>
            </a:pPr>
            <a:r>
              <a:rPr sz="1050" b="0" i="0">
                <a:solidFill>
                  <a:srgbClr val="0E2419"/>
                </a:solidFill>
                <a:latin typeface="Arial"/>
              </a:rPr>
              <a:t>1 frame per kamera per siklus (12:00 &amp; 15:00 WIB) → inferensi model → pencocokan IoU dengan incident terbuka</a:t>
            </a:r>
          </a:p>
        </p:txBody>
      </p:sp>
      <p:sp>
        <p:nvSpPr>
          <p:cNvPr id="10" name="Rounded Rectangle 9"/>
          <p:cNvSpPr/>
          <p:nvPr/>
        </p:nvSpPr>
        <p:spPr>
          <a:xfrm>
            <a:off x="6530845" y="1389888"/>
            <a:ext cx="5002481" cy="868680"/>
          </a:xfrm>
          <a:prstGeom prst="roundRect">
            <a:avLst>
              <a:gd name="adj" fmla="val 8000"/>
            </a:avLst>
          </a:prstGeom>
          <a:solidFill>
            <a:srgbClr val="E6EFF5"/>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50301" y="1536192"/>
            <a:ext cx="4545281" cy="640080"/>
          </a:xfrm>
          <a:prstGeom prst="rect">
            <a:avLst/>
          </a:prstGeom>
          <a:noFill/>
        </p:spPr>
        <p:txBody>
          <a:bodyPr wrap="square" lIns="0" rIns="0" tIns="0" bIns="0" anchor="t">
            <a:spAutoFit/>
          </a:bodyPr>
          <a:lstStyle/>
          <a:p>
            <a:pPr algn="l">
              <a:lnSpc>
                <a:spcPct val="112000"/>
              </a:lnSpc>
              <a:spcBef>
                <a:spcPts val="0"/>
              </a:spcBef>
              <a:spcAft>
                <a:spcPts val="400"/>
              </a:spcAft>
            </a:pPr>
            <a:r>
              <a:rPr sz="950" b="1" i="0" cap="all" spc="80">
                <a:solidFill>
                  <a:srgbClr val="2F6E96"/>
                </a:solidFill>
                <a:latin typeface="Trebuchet MS"/>
              </a:rPr>
              <a:t>JALUR PARTISIPATIF — LAPORAN WARGA</a:t>
            </a:r>
          </a:p>
          <a:p>
            <a:pPr algn="l">
              <a:lnSpc>
                <a:spcPct val="122000"/>
              </a:lnSpc>
              <a:spcBef>
                <a:spcPts val="0"/>
              </a:spcBef>
              <a:spcAft>
                <a:spcPts val="400"/>
              </a:spcAft>
            </a:pPr>
            <a:r>
              <a:rPr sz="1050" b="0" i="0">
                <a:solidFill>
                  <a:srgbClr val="0E2419"/>
                </a:solidFill>
                <a:latin typeface="Arial"/>
              </a:rPr>
              <a:t>Foto + GPS → kode LPR-XXXXXX → pindai AI + cek duplikat (150 m / 48 jam) → antrian triase → diverifikasi manusia</a:t>
            </a:r>
          </a:p>
        </p:txBody>
      </p:sp>
      <p:sp>
        <p:nvSpPr>
          <p:cNvPr id="12" name="Rounded Rectangle 11"/>
          <p:cNvSpPr/>
          <p:nvPr/>
        </p:nvSpPr>
        <p:spPr>
          <a:xfrm>
            <a:off x="658368" y="2432304"/>
            <a:ext cx="10874959" cy="566928"/>
          </a:xfrm>
          <a:prstGeom prst="roundRect">
            <a:avLst>
              <a:gd name="adj" fmla="val 12000"/>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2551176"/>
            <a:ext cx="10417759" cy="365760"/>
          </a:xfrm>
          <a:prstGeom prst="rect">
            <a:avLst/>
          </a:prstGeom>
          <a:noFill/>
        </p:spPr>
        <p:txBody>
          <a:bodyPr wrap="square" lIns="0" rIns="0" tIns="0" bIns="0" anchor="t">
            <a:spAutoFit/>
          </a:bodyPr>
          <a:lstStyle/>
          <a:p>
            <a:pPr algn="ctr">
              <a:lnSpc>
                <a:spcPct val="112000"/>
              </a:lnSpc>
              <a:spcBef>
                <a:spcPts val="0"/>
              </a:spcBef>
              <a:spcAft>
                <a:spcPts val="0"/>
              </a:spcAft>
            </a:pPr>
            <a:r>
              <a:rPr sz="1250" b="1" i="0">
                <a:solidFill>
                  <a:srgbClr val="FFFFFF"/>
                </a:solidFill>
                <a:latin typeface="Trebuchet MS"/>
              </a:rPr>
              <a:t>INCIDENT  —  skor prioritas 0–100 tersimpan beserta rincian faktornya  +  timer SLA mulai berjalan</a:t>
            </a:r>
          </a:p>
        </p:txBody>
      </p:sp>
      <p:sp>
        <p:nvSpPr>
          <p:cNvPr id="14" name="Rounded Rectangle 13"/>
          <p:cNvSpPr/>
          <p:nvPr/>
        </p:nvSpPr>
        <p:spPr>
          <a:xfrm>
            <a:off x="658368" y="3163824"/>
            <a:ext cx="1666189" cy="713232"/>
          </a:xfrm>
          <a:prstGeom prst="roundRect">
            <a:avLst>
              <a:gd name="adj" fmla="val 10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3163824"/>
            <a:ext cx="1666189" cy="50292"/>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328416"/>
            <a:ext cx="1373581" cy="237744"/>
          </a:xfrm>
          <a:prstGeom prst="rect">
            <a:avLst/>
          </a:prstGeom>
          <a:noFill/>
        </p:spPr>
        <p:txBody>
          <a:bodyPr wrap="square" lIns="0" rIns="0" tIns="0" bIns="0" anchor="t">
            <a:spAutoFit/>
          </a:bodyPr>
          <a:lstStyle/>
          <a:p>
            <a:pPr algn="ctr">
              <a:lnSpc>
                <a:spcPct val="112000"/>
              </a:lnSpc>
              <a:spcBef>
                <a:spcPts val="0"/>
              </a:spcBef>
              <a:spcAft>
                <a:spcPts val="0"/>
              </a:spcAft>
            </a:pPr>
            <a:r>
              <a:rPr sz="1300" b="1" i="0">
                <a:solidFill>
                  <a:srgbClr val="C08A1A"/>
                </a:solidFill>
                <a:latin typeface="Trebuchet MS"/>
              </a:rPr>
              <a:t>12 jam</a:t>
            </a:r>
          </a:p>
        </p:txBody>
      </p:sp>
      <p:sp>
        <p:nvSpPr>
          <p:cNvPr id="17" name="TextBox 16"/>
          <p:cNvSpPr txBox="1"/>
          <p:nvPr/>
        </p:nvSpPr>
        <p:spPr>
          <a:xfrm>
            <a:off x="768096" y="3584448"/>
            <a:ext cx="1446733" cy="256032"/>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5F7568"/>
                </a:solidFill>
                <a:latin typeface="Arial"/>
              </a:rPr>
              <a:t>Pengingat operator</a:t>
            </a:r>
          </a:p>
        </p:txBody>
      </p:sp>
      <p:sp>
        <p:nvSpPr>
          <p:cNvPr id="18" name="Rounded Rectangle 17"/>
          <p:cNvSpPr/>
          <p:nvPr/>
        </p:nvSpPr>
        <p:spPr>
          <a:xfrm>
            <a:off x="2544013" y="3163824"/>
            <a:ext cx="1666189" cy="713232"/>
          </a:xfrm>
          <a:prstGeom prst="roundRect">
            <a:avLst>
              <a:gd name="adj" fmla="val 10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544013" y="3163824"/>
            <a:ext cx="1666189" cy="50292"/>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690317" y="3328416"/>
            <a:ext cx="1373581" cy="237744"/>
          </a:xfrm>
          <a:prstGeom prst="rect">
            <a:avLst/>
          </a:prstGeom>
          <a:noFill/>
        </p:spPr>
        <p:txBody>
          <a:bodyPr wrap="square" lIns="0" rIns="0" tIns="0" bIns="0" anchor="t">
            <a:spAutoFit/>
          </a:bodyPr>
          <a:lstStyle/>
          <a:p>
            <a:pPr algn="ctr">
              <a:lnSpc>
                <a:spcPct val="112000"/>
              </a:lnSpc>
              <a:spcBef>
                <a:spcPts val="0"/>
              </a:spcBef>
              <a:spcAft>
                <a:spcPts val="0"/>
              </a:spcAft>
            </a:pPr>
            <a:r>
              <a:rPr sz="1300" b="1" i="0">
                <a:solidFill>
                  <a:srgbClr val="B93A2B"/>
                </a:solidFill>
                <a:latin typeface="Trebuchet MS"/>
              </a:rPr>
              <a:t>24 jam</a:t>
            </a:r>
          </a:p>
        </p:txBody>
      </p:sp>
      <p:sp>
        <p:nvSpPr>
          <p:cNvPr id="21" name="TextBox 20"/>
          <p:cNvSpPr txBox="1"/>
          <p:nvPr/>
        </p:nvSpPr>
        <p:spPr>
          <a:xfrm>
            <a:off x="2653741" y="3584448"/>
            <a:ext cx="1446733" cy="256032"/>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5F7568"/>
                </a:solidFill>
                <a:latin typeface="Arial"/>
              </a:rPr>
              <a:t>Eskalasi Kepala Seksi</a:t>
            </a:r>
          </a:p>
        </p:txBody>
      </p:sp>
      <p:sp>
        <p:nvSpPr>
          <p:cNvPr id="22" name="Rounded Rectangle 21"/>
          <p:cNvSpPr/>
          <p:nvPr/>
        </p:nvSpPr>
        <p:spPr>
          <a:xfrm>
            <a:off x="4429658" y="3163824"/>
            <a:ext cx="1666189" cy="713232"/>
          </a:xfrm>
          <a:prstGeom prst="roundRect">
            <a:avLst>
              <a:gd name="adj" fmla="val 10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429658" y="3163824"/>
            <a:ext cx="1666189" cy="50292"/>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5962" y="3328416"/>
            <a:ext cx="1373581" cy="237744"/>
          </a:xfrm>
          <a:prstGeom prst="rect">
            <a:avLst/>
          </a:prstGeom>
          <a:noFill/>
        </p:spPr>
        <p:txBody>
          <a:bodyPr wrap="square" lIns="0" rIns="0" tIns="0" bIns="0" anchor="t">
            <a:spAutoFit/>
          </a:bodyPr>
          <a:lstStyle/>
          <a:p>
            <a:pPr algn="ctr">
              <a:lnSpc>
                <a:spcPct val="112000"/>
              </a:lnSpc>
              <a:spcBef>
                <a:spcPts val="0"/>
              </a:spcBef>
              <a:spcAft>
                <a:spcPts val="0"/>
              </a:spcAft>
            </a:pPr>
            <a:r>
              <a:rPr sz="1300" b="1" i="0">
                <a:solidFill>
                  <a:srgbClr val="B93A2B"/>
                </a:solidFill>
                <a:latin typeface="Trebuchet MS"/>
              </a:rPr>
              <a:t>48 jam</a:t>
            </a:r>
          </a:p>
        </p:txBody>
      </p:sp>
      <p:sp>
        <p:nvSpPr>
          <p:cNvPr id="25" name="TextBox 24"/>
          <p:cNvSpPr txBox="1"/>
          <p:nvPr/>
        </p:nvSpPr>
        <p:spPr>
          <a:xfrm>
            <a:off x="4539386" y="3584448"/>
            <a:ext cx="1446733" cy="256032"/>
          </a:xfrm>
          <a:prstGeom prst="rect">
            <a:avLst/>
          </a:prstGeom>
          <a:noFill/>
        </p:spPr>
        <p:txBody>
          <a:bodyPr wrap="square" lIns="0" rIns="0" tIns="0" bIns="0" anchor="t">
            <a:spAutoFit/>
          </a:bodyPr>
          <a:lstStyle/>
          <a:p>
            <a:pPr algn="ctr">
              <a:lnSpc>
                <a:spcPct val="115000"/>
              </a:lnSpc>
              <a:spcBef>
                <a:spcPts val="0"/>
              </a:spcBef>
              <a:spcAft>
                <a:spcPts val="0"/>
              </a:spcAft>
            </a:pPr>
            <a:r>
              <a:rPr sz="950" b="0" i="0">
                <a:solidFill>
                  <a:srgbClr val="5F7568"/>
                </a:solidFill>
                <a:latin typeface="Arial"/>
              </a:rPr>
              <a:t>Kepala Dinas &amp; Walikota</a:t>
            </a:r>
          </a:p>
        </p:txBody>
      </p:sp>
      <p:sp>
        <p:nvSpPr>
          <p:cNvPr id="26" name="Rounded Rectangle 25"/>
          <p:cNvSpPr/>
          <p:nvPr/>
        </p:nvSpPr>
        <p:spPr>
          <a:xfrm>
            <a:off x="6315303" y="3163824"/>
            <a:ext cx="5218023" cy="713232"/>
          </a:xfrm>
          <a:prstGeom prst="roundRect">
            <a:avLst>
              <a:gd name="adj" fmla="val 10000"/>
            </a:avLst>
          </a:prstGeom>
          <a:solidFill>
            <a:srgbClr val="E8F3EC"/>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6471" y="3291840"/>
            <a:ext cx="4815687" cy="502920"/>
          </a:xfrm>
          <a:prstGeom prst="rect">
            <a:avLst/>
          </a:prstGeom>
          <a:noFill/>
        </p:spPr>
        <p:txBody>
          <a:bodyPr wrap="square" lIns="0" rIns="0" tIns="0" bIns="0" anchor="t">
            <a:spAutoFit/>
          </a:bodyPr>
          <a:lstStyle/>
          <a:p>
            <a:pPr algn="l">
              <a:lnSpc>
                <a:spcPct val="112000"/>
              </a:lnSpc>
              <a:spcBef>
                <a:spcPts val="0"/>
              </a:spcBef>
              <a:spcAft>
                <a:spcPts val="300"/>
              </a:spcAft>
            </a:pPr>
            <a:r>
              <a:rPr sz="1100" b="1" i="0">
                <a:solidFill>
                  <a:srgbClr val="1B7A50"/>
                </a:solidFill>
                <a:latin typeface="Trebuchet MS"/>
              </a:rPr>
              <a:t>Petugas ditugaskan → selesai + foto bukti → status SELESAI</a:t>
            </a:r>
          </a:p>
          <a:p>
            <a:pPr algn="l">
              <a:lnSpc>
                <a:spcPct val="120000"/>
              </a:lnSpc>
              <a:spcBef>
                <a:spcPts val="0"/>
              </a:spcBef>
              <a:spcAft>
                <a:spcPts val="400"/>
              </a:spcAft>
            </a:pPr>
            <a:r>
              <a:rPr sz="950" b="0" i="0">
                <a:solidFill>
                  <a:srgbClr val="5F7568"/>
                </a:solidFill>
                <a:latin typeface="Arial"/>
              </a:rPr>
              <a:t>Skor kebersihan &amp; laporan wilayah diperbarui · arsip skor harian → tren · titik kronis → usulan intervensi</a:t>
            </a:r>
          </a:p>
        </p:txBody>
      </p:sp>
      <p:sp>
        <p:nvSpPr>
          <p:cNvPr id="28" name="Rounded Rectangle 27"/>
          <p:cNvSpPr/>
          <p:nvPr/>
        </p:nvSpPr>
        <p:spPr>
          <a:xfrm>
            <a:off x="658368" y="4059935"/>
            <a:ext cx="10874959" cy="905256"/>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4059935"/>
            <a:ext cx="54864" cy="905256"/>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96112" y="4215383"/>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Satu perbedaan penting antara kedua jalur</a:t>
            </a:r>
          </a:p>
        </p:txBody>
      </p:sp>
      <p:sp>
        <p:nvSpPr>
          <p:cNvPr id="31" name="TextBox 30"/>
          <p:cNvSpPr txBox="1"/>
          <p:nvPr/>
        </p:nvSpPr>
        <p:spPr>
          <a:xfrm>
            <a:off x="896112" y="4480559"/>
            <a:ext cx="1041775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Untuk laporan masyarakat, timer SLA dihitung sejak warga melapor — bukan sejak operator menyetujui — agar keterlambatan verifikasi tidak menyembunyikan keterlambatan penanganan.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Arsitektur</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Arsitektur sistem: centralized inference</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Dua proses terpisah dengan batas HTTP JSON — layanan deteksi dapat diganti model lain tanpa menyentuh aplikasi web.</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18 / 37</a:t>
            </a:r>
          </a:p>
        </p:txBody>
      </p:sp>
      <p:pic>
        <p:nvPicPr>
          <p:cNvPr id="9" name="Picture 8" descr="03-arsitektur-sistem.png"/>
          <p:cNvPicPr>
            <a:picLocks noChangeAspect="1"/>
          </p:cNvPicPr>
          <p:nvPr/>
        </p:nvPicPr>
        <p:blipFill>
          <a:blip r:embed="rId2"/>
          <a:stretch>
            <a:fillRect/>
          </a:stretch>
        </p:blipFill>
        <p:spPr>
          <a:xfrm>
            <a:off x="658368" y="1792224"/>
            <a:ext cx="7589520" cy="4094546"/>
          </a:xfrm>
          <a:prstGeom prst="rect">
            <a:avLst/>
          </a:prstGeom>
        </p:spPr>
      </p:pic>
      <p:sp>
        <p:nvSpPr>
          <p:cNvPr id="10" name="TextBox 9"/>
          <p:cNvSpPr txBox="1"/>
          <p:nvPr/>
        </p:nvSpPr>
        <p:spPr>
          <a:xfrm>
            <a:off x="8558784" y="1847088"/>
            <a:ext cx="2974543"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0E2419"/>
                </a:solidFill>
                <a:latin typeface="Trebuchet MS"/>
              </a:rPr>
              <a:t>Mengapa dipecah dua proses</a:t>
            </a:r>
          </a:p>
        </p:txBody>
      </p:sp>
      <p:sp>
        <p:nvSpPr>
          <p:cNvPr id="11" name="Rounded Rectangle 10"/>
          <p:cNvSpPr/>
          <p:nvPr/>
        </p:nvSpPr>
        <p:spPr>
          <a:xfrm>
            <a:off x="8558784" y="2253996"/>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814816" y="2176272"/>
            <a:ext cx="2718511" cy="365760"/>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0E2419"/>
                </a:solidFill>
                <a:latin typeface="Arial"/>
              </a:rPr>
              <a:t>Model YOLOv5 hanya dapat dimuat dari ekosistem Python/PyTorch.</a:t>
            </a:r>
          </a:p>
        </p:txBody>
      </p:sp>
      <p:sp>
        <p:nvSpPr>
          <p:cNvPr id="13" name="Rounded Rectangle 12"/>
          <p:cNvSpPr/>
          <p:nvPr/>
        </p:nvSpPr>
        <p:spPr>
          <a:xfrm>
            <a:off x="8558784" y="2618740"/>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14816" y="2541016"/>
            <a:ext cx="2718511" cy="365760"/>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0E2419"/>
                </a:solidFill>
                <a:latin typeface="Arial"/>
              </a:rPr>
              <a:t>Alur operasional (peran, SLA, audit, UI) jauh lebih efisien dalam satu kerangka full-stack.</a:t>
            </a:r>
          </a:p>
        </p:txBody>
      </p:sp>
      <p:sp>
        <p:nvSpPr>
          <p:cNvPr id="15" name="Rounded Rectangle 14"/>
          <p:cNvSpPr/>
          <p:nvPr/>
        </p:nvSpPr>
        <p:spPr>
          <a:xfrm>
            <a:off x="8558784" y="3138424"/>
            <a:ext cx="91440" cy="91440"/>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14816" y="3060700"/>
            <a:ext cx="2718511" cy="365760"/>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0E2419"/>
                </a:solidFill>
                <a:latin typeface="Arial"/>
              </a:rPr>
              <a:t>Batasnya HTTP JSON, sehingga layanan deteksi dapat dipindah ke mesin ber-GPU tanpa perubahan arsitektur.</a:t>
            </a:r>
          </a:p>
        </p:txBody>
      </p:sp>
      <p:sp>
        <p:nvSpPr>
          <p:cNvPr id="17" name="Rounded Rectangle 16"/>
          <p:cNvSpPr/>
          <p:nvPr/>
        </p:nvSpPr>
        <p:spPr>
          <a:xfrm>
            <a:off x="8558784" y="3721608"/>
            <a:ext cx="2974543"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558784" y="3721608"/>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96528" y="3877056"/>
            <a:ext cx="2517343"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Lapisan data</a:t>
            </a:r>
          </a:p>
        </p:txBody>
      </p:sp>
      <p:sp>
        <p:nvSpPr>
          <p:cNvPr id="20" name="TextBox 19"/>
          <p:cNvSpPr txBox="1"/>
          <p:nvPr/>
        </p:nvSpPr>
        <p:spPr>
          <a:xfrm>
            <a:off x="8796528" y="4142232"/>
            <a:ext cx="2517343"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PostgreSQL (14 tabel via Drizzle ORM) + object storage untuk snapshot dan foto bukti.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Solusi inti</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Mesin prioritas 0–100 yang dapat dijelaskan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Karena jumlah petugas terbatas, urutan pengerjaan adalah keputusan kebijakan — dan keputusan kebijakan harus dapat dipertanggungjawabkan.</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19 / 37</a:t>
            </a:r>
          </a:p>
        </p:txBody>
      </p:sp>
      <p:graphicFrame>
        <p:nvGraphicFramePr>
          <p:cNvPr id="9" name="Table 8"/>
          <p:cNvGraphicFramePr>
            <a:graphicFrameLocks noGrp="1"/>
          </p:cNvGraphicFramePr>
          <p:nvPr/>
        </p:nvGraphicFramePr>
        <p:xfrm>
          <a:off x="658368" y="1847088"/>
          <a:ext cx="10874958" cy="2816352"/>
        </p:xfrm>
        <a:graphic>
          <a:graphicData uri="http://schemas.openxmlformats.org/drawingml/2006/table">
            <a:tbl>
              <a:tblPr firstRow="1" bandRow="1">
                <a:tableStyleId>{5C22544A-7EE6-4342-B048-85BDC9FD1C3A}</a:tableStyleId>
              </a:tblPr>
              <a:tblGrid>
                <a:gridCol w="2609990"/>
                <a:gridCol w="8264968"/>
              </a:tblGrid>
              <a:tr h="292608">
                <a:tc>
                  <a:txBody>
                    <a:bodyPr wrap="square"/>
                    <a:lstStyle/>
                    <a:p>
                      <a:pPr algn="l">
                        <a:lnSpc>
                          <a:spcPct val="112000"/>
                        </a:lnSpc>
                        <a:spcBef>
                          <a:spcPts val="0"/>
                        </a:spcBef>
                        <a:spcAft>
                          <a:spcPts val="0"/>
                        </a:spcAft>
                      </a:pPr>
                      <a:r>
                        <a:rPr sz="950" b="1" i="0" cap="all" spc="80">
                          <a:solidFill>
                            <a:srgbClr val="FFFFFF"/>
                          </a:solidFill>
                          <a:latin typeface="Trebuchet MS"/>
                        </a:rPr>
                        <a:t>Faktor</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Peran dalam skor</a:t>
                      </a:r>
                    </a:p>
                  </a:txBody>
                  <a:tcPr marL="82296" marR="82296" marT="36576" marB="36576" anchor="ctr">
                    <a:solidFill>
                      <a:srgbClr val="0D3B26"/>
                    </a:solidFill>
                  </a:tcPr>
                </a:tc>
              </a:tr>
              <a:tr h="420624">
                <a:tc>
                  <a:txBody>
                    <a:bodyPr wrap="square"/>
                    <a:lstStyle/>
                    <a:p>
                      <a:pPr algn="l">
                        <a:lnSpc>
                          <a:spcPct val="110000"/>
                        </a:lnSpc>
                        <a:spcBef>
                          <a:spcPts val="0"/>
                        </a:spcBef>
                        <a:spcAft>
                          <a:spcPts val="0"/>
                        </a:spcAft>
                      </a:pPr>
                      <a:r>
                        <a:rPr sz="1000" b="0" i="0">
                          <a:solidFill>
                            <a:srgbClr val="0E2419"/>
                          </a:solidFill>
                          <a:latin typeface="Arial"/>
                        </a:rPr>
                        <a:t>Jenis sampah</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00" b="0" i="0">
                          <a:solidFill>
                            <a:srgbClr val="0E2419"/>
                          </a:solidFill>
                          <a:latin typeface="Arial"/>
                        </a:rPr>
                        <a:t>Bobot dasar 8–30 poin sesuai biaya penanganan dan dampak kesehatan: pembuangan liar besar (30) butuh armada dan alat berat, botol tunggal (8) tidak.</a:t>
                      </a:r>
                    </a:p>
                  </a:txBody>
                  <a:tcPr marL="82296" marR="82296" marT="27432" marB="27432" anchor="ctr">
                    <a:solidFill>
                      <a:srgbClr val="FFFFFF"/>
                    </a:solidFill>
                  </a:tcPr>
                </a:tc>
              </a:tr>
              <a:tr h="420624">
                <a:tc>
                  <a:txBody>
                    <a:bodyPr wrap="square"/>
                    <a:lstStyle/>
                    <a:p>
                      <a:pPr algn="l">
                        <a:lnSpc>
                          <a:spcPct val="110000"/>
                        </a:lnSpc>
                        <a:spcBef>
                          <a:spcPts val="0"/>
                        </a:spcBef>
                        <a:spcAft>
                          <a:spcPts val="0"/>
                        </a:spcAft>
                      </a:pPr>
                      <a:r>
                        <a:rPr sz="1000" b="0" i="0">
                          <a:solidFill>
                            <a:srgbClr val="0E2419"/>
                          </a:solidFill>
                          <a:latin typeface="Arial"/>
                        </a:rPr>
                        <a:t>Durasi dibiarkan</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00" b="0" i="0">
                          <a:solidFill>
                            <a:srgbClr val="0E2419"/>
                          </a:solidFill>
                          <a:latin typeface="Arial"/>
                        </a:rPr>
                        <a:t>Semakin lama sampah dibiarkan, semakin tinggi prioritasnya. Inilah variabel yang sebelumnya tidak pernah tercatat.</a:t>
                      </a:r>
                    </a:p>
                  </a:txBody>
                  <a:tcPr marL="82296" marR="82296" marT="27432" marB="27432" anchor="ctr">
                    <a:solidFill>
                      <a:srgbClr val="E8F3EC"/>
                    </a:solidFill>
                  </a:tcPr>
                </a:tc>
              </a:tr>
              <a:tr h="420624">
                <a:tc>
                  <a:txBody>
                    <a:bodyPr wrap="square"/>
                    <a:lstStyle/>
                    <a:p>
                      <a:pPr algn="l">
                        <a:lnSpc>
                          <a:spcPct val="110000"/>
                        </a:lnSpc>
                        <a:spcBef>
                          <a:spcPts val="0"/>
                        </a:spcBef>
                        <a:spcAft>
                          <a:spcPts val="0"/>
                        </a:spcAft>
                      </a:pPr>
                      <a:r>
                        <a:rPr sz="1000" b="0" i="0">
                          <a:solidFill>
                            <a:srgbClr val="0E2419"/>
                          </a:solidFill>
                          <a:latin typeface="Arial"/>
                        </a:rPr>
                        <a:t>Sensitivitas lokasi</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00" b="0" i="0">
                          <a:solidFill>
                            <a:srgbClr val="0E2419"/>
                          </a:solidFill>
                          <a:latin typeface="Arial"/>
                        </a:rPr>
                        <a:t>Sungai dan drainase tertinggi — sampah di badan air berpindah ke hilir dan menyumbat saluran (risiko banjir), bukan sekadar estetika. Disusul sekolah, pasar, fasilitas kesehatan.</a:t>
                      </a:r>
                    </a:p>
                  </a:txBody>
                  <a:tcPr marL="82296" marR="82296" marT="27432" marB="27432" anchor="ctr">
                    <a:solidFill>
                      <a:srgbClr val="FFFFFF"/>
                    </a:solidFill>
                  </a:tcPr>
                </a:tc>
              </a:tr>
              <a:tr h="420624">
                <a:tc>
                  <a:txBody>
                    <a:bodyPr wrap="square"/>
                    <a:lstStyle/>
                    <a:p>
                      <a:pPr algn="l">
                        <a:lnSpc>
                          <a:spcPct val="110000"/>
                        </a:lnSpc>
                        <a:spcBef>
                          <a:spcPts val="0"/>
                        </a:spcBef>
                        <a:spcAft>
                          <a:spcPts val="0"/>
                        </a:spcAft>
                      </a:pPr>
                      <a:r>
                        <a:rPr sz="1000" b="0" i="0">
                          <a:solidFill>
                            <a:srgbClr val="0E2419"/>
                          </a:solidFill>
                          <a:latin typeface="Arial"/>
                        </a:rPr>
                        <a:t>Kekambuhan titik</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00" b="0" i="0">
                          <a:solidFill>
                            <a:srgbClr val="0E2419"/>
                          </a:solidFill>
                          <a:latin typeface="Arial"/>
                        </a:rPr>
                        <a:t>Lokasi yang berulang dibersihkan lalu kembali kotor adalah masalah struktural, bukan insidentil.</a:t>
                      </a:r>
                    </a:p>
                  </a:txBody>
                  <a:tcPr marL="82296" marR="82296" marT="27432" marB="27432" anchor="ctr">
                    <a:solidFill>
                      <a:srgbClr val="E8F3EC"/>
                    </a:solidFill>
                  </a:tcPr>
                </a:tc>
              </a:tr>
              <a:tr h="420624">
                <a:tc>
                  <a:txBody>
                    <a:bodyPr wrap="square"/>
                    <a:lstStyle/>
                    <a:p>
                      <a:pPr algn="l">
                        <a:lnSpc>
                          <a:spcPct val="110000"/>
                        </a:lnSpc>
                        <a:spcBef>
                          <a:spcPts val="0"/>
                        </a:spcBef>
                        <a:spcAft>
                          <a:spcPts val="0"/>
                        </a:spcAft>
                      </a:pPr>
                      <a:r>
                        <a:rPr sz="1000" b="0" i="0">
                          <a:solidFill>
                            <a:srgbClr val="0E2419"/>
                          </a:solidFill>
                          <a:latin typeface="Arial"/>
                        </a:rPr>
                        <a:t>Laporan warga menguatkan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00" b="0" i="0">
                          <a:solidFill>
                            <a:srgbClr val="0E2419"/>
                          </a:solidFill>
                          <a:latin typeface="Arial"/>
                        </a:rPr>
                        <a:t>Jumlah laporan masyarakat berbeda yang mengonfirmasi kejadian yang sama.</a:t>
                      </a:r>
                    </a:p>
                  </a:txBody>
                  <a:tcPr marL="82296" marR="82296" marT="27432" marB="27432" anchor="ctr">
                    <a:solidFill>
                      <a:srgbClr val="FFFFFF"/>
                    </a:solidFill>
                  </a:tcPr>
                </a:tc>
              </a:tr>
              <a:tr h="420624">
                <a:tc>
                  <a:txBody>
                    <a:bodyPr wrap="square"/>
                    <a:lstStyle/>
                    <a:p>
                      <a:pPr algn="l">
                        <a:lnSpc>
                          <a:spcPct val="110000"/>
                        </a:lnSpc>
                        <a:spcBef>
                          <a:spcPts val="0"/>
                        </a:spcBef>
                        <a:spcAft>
                          <a:spcPts val="0"/>
                        </a:spcAft>
                      </a:pPr>
                      <a:r>
                        <a:rPr sz="1000" b="0" i="0">
                          <a:solidFill>
                            <a:srgbClr val="0E2419"/>
                          </a:solidFill>
                          <a:latin typeface="Arial"/>
                        </a:rPr>
                        <a:t>Tingkat kepercayaan model</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00" b="0" i="0">
                          <a:solidFill>
                            <a:srgbClr val="0E2419"/>
                          </a:solidFill>
                          <a:latin typeface="Arial"/>
                        </a:rPr>
                        <a:t>Skor kepercayaan detektor pada rentang 0–1.</a:t>
                      </a:r>
                    </a:p>
                  </a:txBody>
                  <a:tcPr marL="82296" marR="82296" marT="27432" marB="27432" anchor="ctr">
                    <a:solidFill>
                      <a:srgbClr val="E8F3EC"/>
                    </a:solidFill>
                  </a:tcPr>
                </a:tc>
              </a:tr>
            </a:tbl>
          </a:graphicData>
        </a:graphic>
      </p:graphicFrame>
      <p:sp>
        <p:nvSpPr>
          <p:cNvPr id="10" name="Rounded Rectangle 9"/>
          <p:cNvSpPr/>
          <p:nvPr/>
        </p:nvSpPr>
        <p:spPr>
          <a:xfrm>
            <a:off x="658368" y="4846320"/>
            <a:ext cx="5309463"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4846320"/>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5001768"/>
            <a:ext cx="4852263"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Fungsi murni, tanpa basis data</a:t>
            </a:r>
          </a:p>
        </p:txBody>
      </p:sp>
      <p:sp>
        <p:nvSpPr>
          <p:cNvPr id="13" name="TextBox 12"/>
          <p:cNvSpPr txBox="1"/>
          <p:nvPr/>
        </p:nvSpPr>
        <p:spPr>
          <a:xfrm>
            <a:off x="896112" y="5266944"/>
            <a:ext cx="4852263"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Penghitung skor ditulis tanpa akses DB dan tanpa efek samping, sehingga bobot kebijakannya dapat diuji unit secara terisolasi.</a:t>
            </a:r>
          </a:p>
        </p:txBody>
      </p:sp>
      <p:sp>
        <p:nvSpPr>
          <p:cNvPr id="14" name="Rounded Rectangle 13"/>
          <p:cNvSpPr/>
          <p:nvPr/>
        </p:nvSpPr>
        <p:spPr>
          <a:xfrm>
            <a:off x="6223863" y="4846320"/>
            <a:ext cx="5309463" cy="1074419"/>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23863" y="4846320"/>
            <a:ext cx="54864" cy="1074419"/>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61607" y="5001768"/>
            <a:ext cx="4852263"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Keluarannya bukan sekadar angka</a:t>
            </a:r>
          </a:p>
        </p:txBody>
      </p:sp>
      <p:sp>
        <p:nvSpPr>
          <p:cNvPr id="17" name="TextBox 16"/>
          <p:cNvSpPr txBox="1"/>
          <p:nvPr/>
        </p:nvSpPr>
        <p:spPr>
          <a:xfrm>
            <a:off x="6461607" y="5266944"/>
            <a:ext cx="4852263"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Daftar faktor pembentuk skor ditampilkan apa adanya di antarmuka dan tersimpan di basis data — operator melihat alasan sebuah incident berskor 87, auditor dapat memeriksa pembobotannya.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Solusi</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Partisipasi masyarakat — AI menyaring, manusia memutuskan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20 / 37</a:t>
            </a:r>
          </a:p>
        </p:txBody>
      </p:sp>
      <p:sp>
        <p:nvSpPr>
          <p:cNvPr id="8" name="TextBox 7"/>
          <p:cNvSpPr txBox="1"/>
          <p:nvPr/>
        </p:nvSpPr>
        <p:spPr>
          <a:xfrm>
            <a:off x="658368" y="1389888"/>
            <a:ext cx="5291175"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0E2419"/>
                </a:solidFill>
                <a:latin typeface="Trebuchet MS"/>
              </a:rPr>
              <a:t>Pipeline laporan warga</a:t>
            </a:r>
          </a:p>
        </p:txBody>
      </p:sp>
      <p:sp>
        <p:nvSpPr>
          <p:cNvPr id="9" name="Rounded Rectangle 8"/>
          <p:cNvSpPr/>
          <p:nvPr/>
        </p:nvSpPr>
        <p:spPr>
          <a:xfrm>
            <a:off x="658368" y="1755648"/>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58368" y="1810512"/>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1</a:t>
            </a:r>
          </a:p>
        </p:txBody>
      </p:sp>
      <p:sp>
        <p:nvSpPr>
          <p:cNvPr id="11" name="TextBox 10"/>
          <p:cNvSpPr txBox="1"/>
          <p:nvPr/>
        </p:nvSpPr>
        <p:spPr>
          <a:xfrm>
            <a:off x="1060704" y="1796795"/>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Warga kirim foto + GPS</a:t>
            </a:r>
          </a:p>
        </p:txBody>
      </p:sp>
      <p:sp>
        <p:nvSpPr>
          <p:cNvPr id="12" name="Rectangle 11"/>
          <p:cNvSpPr/>
          <p:nvPr/>
        </p:nvSpPr>
        <p:spPr>
          <a:xfrm>
            <a:off x="790956" y="2029967"/>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58368" y="2286000"/>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 y="2340864"/>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2</a:t>
            </a:r>
          </a:p>
        </p:txBody>
      </p:sp>
      <p:sp>
        <p:nvSpPr>
          <p:cNvPr id="15" name="TextBox 14"/>
          <p:cNvSpPr txBox="1"/>
          <p:nvPr/>
        </p:nvSpPr>
        <p:spPr>
          <a:xfrm>
            <a:off x="1060704" y="2327148"/>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Kode LPR-XXXXXX</a:t>
            </a:r>
          </a:p>
        </p:txBody>
      </p:sp>
      <p:sp>
        <p:nvSpPr>
          <p:cNvPr id="16" name="Rectangle 15"/>
          <p:cNvSpPr/>
          <p:nvPr/>
        </p:nvSpPr>
        <p:spPr>
          <a:xfrm>
            <a:off x="790956" y="2560320"/>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58368" y="2816352"/>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8368" y="2871216"/>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3</a:t>
            </a:r>
          </a:p>
        </p:txBody>
      </p:sp>
      <p:sp>
        <p:nvSpPr>
          <p:cNvPr id="19" name="TextBox 18"/>
          <p:cNvSpPr txBox="1"/>
          <p:nvPr/>
        </p:nvSpPr>
        <p:spPr>
          <a:xfrm>
            <a:off x="1060704" y="2857500"/>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Pindai AI</a:t>
            </a:r>
          </a:p>
        </p:txBody>
      </p:sp>
      <p:sp>
        <p:nvSpPr>
          <p:cNvPr id="20" name="Rectangle 19"/>
          <p:cNvSpPr/>
          <p:nvPr/>
        </p:nvSpPr>
        <p:spPr>
          <a:xfrm>
            <a:off x="790956" y="3090672"/>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658368" y="3346704"/>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3401568"/>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4</a:t>
            </a:r>
          </a:p>
        </p:txBody>
      </p:sp>
      <p:sp>
        <p:nvSpPr>
          <p:cNvPr id="23" name="TextBox 22"/>
          <p:cNvSpPr txBox="1"/>
          <p:nvPr/>
        </p:nvSpPr>
        <p:spPr>
          <a:xfrm>
            <a:off x="1060704" y="3387852"/>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Cek duplikat 150 m / 48 jam</a:t>
            </a:r>
          </a:p>
        </p:txBody>
      </p:sp>
      <p:sp>
        <p:nvSpPr>
          <p:cNvPr id="24" name="Rectangle 23"/>
          <p:cNvSpPr/>
          <p:nvPr/>
        </p:nvSpPr>
        <p:spPr>
          <a:xfrm>
            <a:off x="790956" y="3621024"/>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58368" y="3877056"/>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3931920"/>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5</a:t>
            </a:r>
          </a:p>
        </p:txBody>
      </p:sp>
      <p:sp>
        <p:nvSpPr>
          <p:cNvPr id="27" name="TextBox 26"/>
          <p:cNvSpPr txBox="1"/>
          <p:nvPr/>
        </p:nvSpPr>
        <p:spPr>
          <a:xfrm>
            <a:off x="1060704" y="3918204"/>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Antrian triase</a:t>
            </a:r>
          </a:p>
        </p:txBody>
      </p:sp>
      <p:sp>
        <p:nvSpPr>
          <p:cNvPr id="28" name="Rectangle 27"/>
          <p:cNvSpPr/>
          <p:nvPr/>
        </p:nvSpPr>
        <p:spPr>
          <a:xfrm>
            <a:off x="790956" y="4151376"/>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58368" y="4407408"/>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8368" y="4462272"/>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6</a:t>
            </a:r>
          </a:p>
        </p:txBody>
      </p:sp>
      <p:sp>
        <p:nvSpPr>
          <p:cNvPr id="31" name="TextBox 30"/>
          <p:cNvSpPr txBox="1"/>
          <p:nvPr/>
        </p:nvSpPr>
        <p:spPr>
          <a:xfrm>
            <a:off x="1060704" y="4448556"/>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Verifikasi operator</a:t>
            </a:r>
          </a:p>
        </p:txBody>
      </p:sp>
      <p:sp>
        <p:nvSpPr>
          <p:cNvPr id="32" name="Rectangle 31"/>
          <p:cNvSpPr/>
          <p:nvPr/>
        </p:nvSpPr>
        <p:spPr>
          <a:xfrm>
            <a:off x="790956" y="4681728"/>
            <a:ext cx="10972" cy="256032"/>
          </a:xfrm>
          <a:prstGeom prst="rect">
            <a:avLst/>
          </a:prstGeom>
          <a:solidFill>
            <a:srgbClr val="D8E5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658368" y="4937760"/>
            <a:ext cx="274320" cy="274320"/>
          </a:xfrm>
          <a:prstGeom prst="roundRect">
            <a:avLst>
              <a:gd name="adj" fmla="val 2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8368" y="4992624"/>
            <a:ext cx="274320" cy="201168"/>
          </a:xfrm>
          <a:prstGeom prst="rect">
            <a:avLst/>
          </a:prstGeom>
          <a:noFill/>
        </p:spPr>
        <p:txBody>
          <a:bodyPr wrap="square" lIns="0" rIns="0" tIns="0" bIns="0" anchor="t">
            <a:spAutoFit/>
          </a:bodyPr>
          <a:lstStyle/>
          <a:p>
            <a:pPr algn="ctr">
              <a:lnSpc>
                <a:spcPct val="112000"/>
              </a:lnSpc>
              <a:spcBef>
                <a:spcPts val="0"/>
              </a:spcBef>
              <a:spcAft>
                <a:spcPts val="0"/>
              </a:spcAft>
            </a:pPr>
            <a:r>
              <a:rPr sz="1000" b="1" i="0">
                <a:solidFill>
                  <a:srgbClr val="1B7A50"/>
                </a:solidFill>
                <a:latin typeface="Trebuchet MS"/>
              </a:rPr>
              <a:t>7</a:t>
            </a:r>
          </a:p>
        </p:txBody>
      </p:sp>
      <p:sp>
        <p:nvSpPr>
          <p:cNvPr id="35" name="TextBox 34"/>
          <p:cNvSpPr txBox="1"/>
          <p:nvPr/>
        </p:nvSpPr>
        <p:spPr>
          <a:xfrm>
            <a:off x="1060704" y="4978908"/>
            <a:ext cx="4833975" cy="274320"/>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0E2419"/>
                </a:solidFill>
                <a:latin typeface="Arial"/>
              </a:rPr>
              <a:t>Naik jadi incident</a:t>
            </a:r>
          </a:p>
        </p:txBody>
      </p:sp>
      <p:sp>
        <p:nvSpPr>
          <p:cNvPr id="36" name="TextBox 35"/>
          <p:cNvSpPr txBox="1"/>
          <p:nvPr/>
        </p:nvSpPr>
        <p:spPr>
          <a:xfrm>
            <a:off x="6242151" y="1389888"/>
            <a:ext cx="5291175"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0E2419"/>
                </a:solidFill>
                <a:latin typeface="Trebuchet MS"/>
              </a:rPr>
              <a:t>Rambu yang kami pasang sendiri</a:t>
            </a:r>
          </a:p>
        </p:txBody>
      </p:sp>
      <p:sp>
        <p:nvSpPr>
          <p:cNvPr id="37" name="Rounded Rectangle 36"/>
          <p:cNvSpPr/>
          <p:nvPr/>
        </p:nvSpPr>
        <p:spPr>
          <a:xfrm>
            <a:off x="6242151" y="1755648"/>
            <a:ext cx="5291175" cy="1074419"/>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242151" y="1755648"/>
            <a:ext cx="54864" cy="1074419"/>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479895" y="1911095"/>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AI tidak pernah memutuskan</a:t>
            </a:r>
          </a:p>
        </p:txBody>
      </p:sp>
      <p:sp>
        <p:nvSpPr>
          <p:cNvPr id="40" name="TextBox 39"/>
          <p:cNvSpPr txBox="1"/>
          <p:nvPr/>
        </p:nvSpPr>
        <p:spPr>
          <a:xfrm>
            <a:off x="6479895" y="2176272"/>
            <a:ext cx="4833975"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Model hanya mengisi kolom rekomendasi: SANGAT MUNGKIN VALID / PERLU TINJAUAN / KEMUNGKINAN SPAM. Setiap perubahan status berasal dari aksi operator dan tercatat di audit log.</a:t>
            </a:r>
          </a:p>
        </p:txBody>
      </p:sp>
      <p:sp>
        <p:nvSpPr>
          <p:cNvPr id="41" name="Rounded Rectangle 40"/>
          <p:cNvSpPr/>
          <p:nvPr/>
        </p:nvSpPr>
        <p:spPr>
          <a:xfrm>
            <a:off x="6242151" y="2976372"/>
            <a:ext cx="5291175" cy="1074419"/>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6242151" y="2976372"/>
            <a:ext cx="54864" cy="1074419"/>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479895" y="3131820"/>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Alasannya teknis, bukan kehati-hatian belaka</a:t>
            </a:r>
          </a:p>
        </p:txBody>
      </p:sp>
      <p:sp>
        <p:nvSpPr>
          <p:cNvPr id="44" name="TextBox 43"/>
          <p:cNvSpPr txBox="1"/>
          <p:nvPr/>
        </p:nvSpPr>
        <p:spPr>
          <a:xfrm>
            <a:off x="6479895" y="3396996"/>
            <a:ext cx="4833975"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Detektor dilatih pada citra CCTV jalan, sedangkan foto warga diambil dari ponsel pada jarak dan sudut yang sangat berbeda. Akurasinya tidak layak dijadikan hakim tunggal.</a:t>
            </a:r>
          </a:p>
        </p:txBody>
      </p:sp>
      <p:sp>
        <p:nvSpPr>
          <p:cNvPr id="45" name="Rounded Rectangle 44"/>
          <p:cNvSpPr/>
          <p:nvPr/>
        </p:nvSpPr>
        <p:spPr>
          <a:xfrm>
            <a:off x="6242151" y="4197096"/>
            <a:ext cx="5291175" cy="1074419"/>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6242151" y="4197096"/>
            <a:ext cx="54864" cy="1074419"/>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79895" y="4352544"/>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Reputasi pelapor yang adil</a:t>
            </a:r>
          </a:p>
        </p:txBody>
      </p:sp>
      <p:sp>
        <p:nvSpPr>
          <p:cNvPr id="48" name="TextBox 47"/>
          <p:cNvSpPr txBox="1"/>
          <p:nvPr/>
        </p:nvSpPr>
        <p:spPr>
          <a:xfrm>
            <a:off x="6479895" y="4617720"/>
            <a:ext cx="4833975"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Akurasi laporan sebelumnya ikut menentukan prioritas triase, tetapi laporan duplikat tidak menurunkan reputasi — melaporkan masalah nyata yang kebetulan sudah dilaporkan orang lain bukan kesalahan pelapor.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Nilai tambah</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Dari incident menjadi keputusan struktural</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Data yang terakumulasi dipakai untuk memperbaiki penyebab, bukan hanya membersihkan akibat.</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21 / 37</a:t>
            </a:r>
          </a:p>
        </p:txBody>
      </p:sp>
      <p:sp>
        <p:nvSpPr>
          <p:cNvPr id="9" name="Rounded Rectangle 8"/>
          <p:cNvSpPr/>
          <p:nvPr/>
        </p:nvSpPr>
        <p:spPr>
          <a:xfrm>
            <a:off x="658368" y="1847088"/>
            <a:ext cx="3454298" cy="196596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196596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Titik kronis</a:t>
            </a:r>
          </a:p>
        </p:txBody>
      </p:sp>
      <p:sp>
        <p:nvSpPr>
          <p:cNvPr id="12" name="TextBox 11"/>
          <p:cNvSpPr txBox="1"/>
          <p:nvPr/>
        </p:nvSpPr>
        <p:spPr>
          <a:xfrm>
            <a:off x="896112" y="2331720"/>
            <a:ext cx="2997098" cy="141731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Lokasi yang berulang dibersihkan lalu kotor lagi, masing-masing disertai usulan intervensi beserta alasannya: tambah TPS bila siklusnya jam-jaman, ubah jadwal angkut bila harian, pengawasan &amp; penindakan bila polanya disengaja.</a:t>
            </a:r>
          </a:p>
        </p:txBody>
      </p:sp>
      <p:sp>
        <p:nvSpPr>
          <p:cNvPr id="13" name="Rounded Rectangle 12"/>
          <p:cNvSpPr/>
          <p:nvPr/>
        </p:nvSpPr>
        <p:spPr>
          <a:xfrm>
            <a:off x="4368698" y="1847088"/>
            <a:ext cx="3454298" cy="196596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68698" y="1847088"/>
            <a:ext cx="50292" cy="196596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0644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Jam rawan &amp; jendela patroli</a:t>
            </a:r>
          </a:p>
        </p:txBody>
      </p:sp>
      <p:sp>
        <p:nvSpPr>
          <p:cNvPr id="16" name="TextBox 15"/>
          <p:cNvSpPr txBox="1"/>
          <p:nvPr/>
        </p:nvSpPr>
        <p:spPr>
          <a:xfrm>
            <a:off x="4606442" y="2386584"/>
            <a:ext cx="2997098" cy="141731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Distribusi jam kemunculan sampah per kecamatan, dengan usulan jendela patroli 3 jam. Kecamatan dengan kurang dari 5 laporan sengaja tidak diusulkan karena polanya belum dapat dibedakan dari kebetulan.</a:t>
            </a:r>
          </a:p>
        </p:txBody>
      </p:sp>
      <p:sp>
        <p:nvSpPr>
          <p:cNvPr id="17" name="Rounded Rectangle 16"/>
          <p:cNvSpPr/>
          <p:nvPr/>
        </p:nvSpPr>
        <p:spPr>
          <a:xfrm>
            <a:off x="8079028" y="1847088"/>
            <a:ext cx="3454298" cy="196596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79028" y="1847088"/>
            <a:ext cx="50292" cy="196596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1677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Arsip skor harian</a:t>
            </a:r>
          </a:p>
        </p:txBody>
      </p:sp>
      <p:sp>
        <p:nvSpPr>
          <p:cNvPr id="20" name="TextBox 19"/>
          <p:cNvSpPr txBox="1"/>
          <p:nvPr/>
        </p:nvSpPr>
        <p:spPr>
          <a:xfrm>
            <a:off x="8316772" y="2331720"/>
            <a:ext cx="2997098" cy="1417319"/>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Snapshot skor kebersihan tiap kecamatan disimpan setiap malam sehingga tren dihitung dari data nyata. Selama arsipnya belum cukup panjang, aplikasi menyatakan datanya belum ada alih-alih menampilkan +0,0% yang menyesatkan.</a:t>
            </a:r>
          </a:p>
        </p:txBody>
      </p:sp>
      <p:sp>
        <p:nvSpPr>
          <p:cNvPr id="21" name="Rounded Rectangle 20"/>
          <p:cNvSpPr/>
          <p:nvPr/>
        </p:nvSpPr>
        <p:spPr>
          <a:xfrm>
            <a:off x="658368" y="4187952"/>
            <a:ext cx="2526715" cy="11430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4187952"/>
            <a:ext cx="50292" cy="11430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96112" y="4361688"/>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Peringkat wilayah</a:t>
            </a:r>
          </a:p>
        </p:txBody>
      </p:sp>
      <p:sp>
        <p:nvSpPr>
          <p:cNvPr id="24" name="TextBox 23"/>
          <p:cNvSpPr txBox="1"/>
          <p:nvPr/>
        </p:nvSpPr>
        <p:spPr>
          <a:xfrm>
            <a:off x="896112" y="4672584"/>
            <a:ext cx="2069515" cy="594360"/>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Skor kebersihan 0–100 per kelurahan: jumlah incident, rata-rata durasi, tren mingguan.</a:t>
            </a:r>
          </a:p>
        </p:txBody>
      </p:sp>
      <p:sp>
        <p:nvSpPr>
          <p:cNvPr id="25" name="Rounded Rectangle 24"/>
          <p:cNvSpPr/>
          <p:nvPr/>
        </p:nvSpPr>
        <p:spPr>
          <a:xfrm>
            <a:off x="3441115" y="4187952"/>
            <a:ext cx="2526715" cy="11430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441115" y="4187952"/>
            <a:ext cx="50292" cy="11430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78859" y="4361688"/>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Peta titik rawan</a:t>
            </a:r>
          </a:p>
        </p:txBody>
      </p:sp>
      <p:sp>
        <p:nvSpPr>
          <p:cNvPr id="28" name="TextBox 27"/>
          <p:cNvSpPr txBox="1"/>
          <p:nvPr/>
        </p:nvSpPr>
        <p:spPr>
          <a:xfrm>
            <a:off x="3678859" y="4672584"/>
            <a:ext cx="2069515" cy="594360"/>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290 kamera terklaster + incident terbuka; ukuran lingkaran mengikuti skor prioritas.</a:t>
            </a:r>
          </a:p>
        </p:txBody>
      </p:sp>
      <p:sp>
        <p:nvSpPr>
          <p:cNvPr id="29" name="Rounded Rectangle 28"/>
          <p:cNvSpPr/>
          <p:nvPr/>
        </p:nvSpPr>
        <p:spPr>
          <a:xfrm>
            <a:off x="6223863" y="4187952"/>
            <a:ext cx="2526715" cy="11430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23863" y="4187952"/>
            <a:ext cx="50292" cy="11430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61607" y="4361688"/>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Dashboard eksekutif</a:t>
            </a:r>
          </a:p>
        </p:txBody>
      </p:sp>
      <p:sp>
        <p:nvSpPr>
          <p:cNvPr id="32" name="TextBox 31"/>
          <p:cNvSpPr txBox="1"/>
          <p:nvPr/>
        </p:nvSpPr>
        <p:spPr>
          <a:xfrm>
            <a:off x="6461607" y="4672584"/>
            <a:ext cx="2069515" cy="594360"/>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Ringkasan KPI untuk kepala dinas dan walikota, termasuk pencapaian SLA per wilayah dan per petugas.</a:t>
            </a:r>
          </a:p>
        </p:txBody>
      </p:sp>
      <p:sp>
        <p:nvSpPr>
          <p:cNvPr id="33" name="Rounded Rectangle 32"/>
          <p:cNvSpPr/>
          <p:nvPr/>
        </p:nvSpPr>
        <p:spPr>
          <a:xfrm>
            <a:off x="9006611" y="4187952"/>
            <a:ext cx="2526715" cy="11430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9006611" y="4187952"/>
            <a:ext cx="50292" cy="11430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44355" y="4361688"/>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Kesehatan kamera</a:t>
            </a:r>
          </a:p>
        </p:txBody>
      </p:sp>
      <p:sp>
        <p:nvSpPr>
          <p:cNvPr id="36" name="TextBox 35"/>
          <p:cNvSpPr txBox="1"/>
          <p:nvPr/>
        </p:nvSpPr>
        <p:spPr>
          <a:xfrm>
            <a:off x="9244355" y="4672584"/>
            <a:ext cx="2069515" cy="594360"/>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Probe berkala 15 menit; stream terputus berubah OFFLINE agar wilayahnya tidak tampak bersih.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86968" y="1874519"/>
            <a:ext cx="6035040" cy="64008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BAGIAN 04</a:t>
            </a:r>
          </a:p>
        </p:txBody>
      </p:sp>
      <p:sp>
        <p:nvSpPr>
          <p:cNvPr id="5" name="TextBox 4"/>
          <p:cNvSpPr txBox="1"/>
          <p:nvPr/>
        </p:nvSpPr>
        <p:spPr>
          <a:xfrm>
            <a:off x="886968" y="2212848"/>
            <a:ext cx="7498079" cy="109728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Trebuchet MS"/>
              </a:rPr>
              <a:t>AI &amp;
Machine Learning</a:t>
            </a:r>
          </a:p>
        </p:txBody>
      </p:sp>
      <p:sp>
        <p:nvSpPr>
          <p:cNvPr id="6" name="TextBox 5"/>
          <p:cNvSpPr txBox="1"/>
          <p:nvPr/>
        </p:nvSpPr>
        <p:spPr>
          <a:xfrm>
            <a:off x="886968" y="3520440"/>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E8F3EC"/>
                </a:solidFill>
                <a:latin typeface="Arial"/>
              </a:rPr>
              <a:t>Model, pipeline inferensi, hasil pengujian yang sebenarnya, dan bagaimana kami melatihnya.</a:t>
            </a:r>
          </a:p>
        </p:txBody>
      </p:sp>
      <p:sp>
        <p:nvSpPr>
          <p:cNvPr id="7" name="Rounded Rectangle 6"/>
          <p:cNvSpPr/>
          <p:nvPr/>
        </p:nvSpPr>
        <p:spPr>
          <a:xfrm>
            <a:off x="7680960" y="2340864"/>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73568" y="2231136"/>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4 pilihan model: street · cctv · taco · novira</a:t>
            </a:r>
          </a:p>
        </p:txBody>
      </p:sp>
      <p:sp>
        <p:nvSpPr>
          <p:cNvPr id="9" name="Rounded Rectangle 8"/>
          <p:cNvSpPr/>
          <p:nvPr/>
        </p:nvSpPr>
        <p:spPr>
          <a:xfrm>
            <a:off x="7680960" y="2907792"/>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73568" y="2798064"/>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Sliced inference + ROI + coverage Otsu</a:t>
            </a:r>
          </a:p>
        </p:txBody>
      </p:sp>
      <p:sp>
        <p:nvSpPr>
          <p:cNvPr id="11" name="Rounded Rectangle 10"/>
          <p:cNvSpPr/>
          <p:nvPr/>
        </p:nvSpPr>
        <p:spPr>
          <a:xfrm>
            <a:off x="7680960" y="3474720"/>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73568" y="3364992"/>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AP50 0,77 di dataset asal, 57% FP di Bandung</a:t>
            </a:r>
          </a:p>
        </p:txBody>
      </p:sp>
      <p:sp>
        <p:nvSpPr>
          <p:cNvPr id="13" name="Rounded Rectangle 12"/>
          <p:cNvSpPr/>
          <p:nvPr/>
        </p:nvSpPr>
        <p:spPr>
          <a:xfrm>
            <a:off x="7680960" y="4041647"/>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73568" y="3931919"/>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Fine-tuning berbasis negatif kendaraan</a:t>
            </a:r>
          </a:p>
        </p:txBody>
      </p:sp>
      <p:sp>
        <p:nvSpPr>
          <p:cNvPr id="15" name="TextBox 14"/>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35A46F"/>
                </a:solidFill>
                <a:latin typeface="Trebuchet MS"/>
              </a:rPr>
              <a:t>NOVIRA · Detect Today, Keep Tomorrow</a:t>
            </a:r>
          </a:p>
        </p:txBody>
      </p:sp>
      <p:sp>
        <p:nvSpPr>
          <p:cNvPr id="16" name="TextBox 15"/>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AI / ML</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Model dan pipeline inferensi</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Empat pilihan model yang dapat dipilih operator dari halaman Pengaturan — bukan hardcode.</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23 / 37</a:t>
            </a:r>
          </a:p>
        </p:txBody>
      </p:sp>
      <p:graphicFrame>
        <p:nvGraphicFramePr>
          <p:cNvPr id="9" name="Table 8"/>
          <p:cNvGraphicFramePr>
            <a:graphicFrameLocks noGrp="1"/>
          </p:cNvGraphicFramePr>
          <p:nvPr/>
        </p:nvGraphicFramePr>
        <p:xfrm>
          <a:off x="658368" y="1847088"/>
          <a:ext cx="10874957" cy="1755648"/>
        </p:xfrm>
        <a:graphic>
          <a:graphicData uri="http://schemas.openxmlformats.org/drawingml/2006/table">
            <a:tbl>
              <a:tblPr firstRow="1" bandRow="1">
                <a:tableStyleId>{5C22544A-7EE6-4342-B048-85BDC9FD1C3A}</a:tableStyleId>
              </a:tblPr>
              <a:tblGrid>
                <a:gridCol w="1304995"/>
                <a:gridCol w="2609990"/>
                <a:gridCol w="3479986"/>
                <a:gridCol w="3479986"/>
              </a:tblGrid>
              <a:tr h="292608">
                <a:tc>
                  <a:txBody>
                    <a:bodyPr wrap="square"/>
                    <a:lstStyle/>
                    <a:p>
                      <a:pPr algn="l">
                        <a:lnSpc>
                          <a:spcPct val="112000"/>
                        </a:lnSpc>
                        <a:spcBef>
                          <a:spcPts val="0"/>
                        </a:spcBef>
                        <a:spcAft>
                          <a:spcPts val="0"/>
                        </a:spcAft>
                      </a:pPr>
                      <a:r>
                        <a:rPr sz="950" b="1" i="0" cap="all" spc="80">
                          <a:solidFill>
                            <a:srgbClr val="FFFFFF"/>
                          </a:solidFill>
                          <a:latin typeface="Trebuchet MS"/>
                        </a:rPr>
                        <a:t>Model</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Arsitektur / jenis</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Dilatih pada</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Kapan dipakai</a:t>
                      </a:r>
                    </a:p>
                  </a:txBody>
                  <a:tcPr marL="82296" marR="82296" marT="36576" marB="36576" anchor="ctr">
                    <a:solidFill>
                      <a:srgbClr val="0D3B26"/>
                    </a:solidFill>
                  </a:tcPr>
                </a:tc>
              </a:tr>
              <a:tr h="365760">
                <a:tc>
                  <a:txBody>
                    <a:bodyPr wrap="square"/>
                    <a:lstStyle/>
                    <a:p>
                      <a:pPr algn="l">
                        <a:lnSpc>
                          <a:spcPct val="110000"/>
                        </a:lnSpc>
                        <a:spcBef>
                          <a:spcPts val="0"/>
                        </a:spcBef>
                        <a:spcAft>
                          <a:spcPts val="0"/>
                        </a:spcAft>
                      </a:pPr>
                      <a:r>
                        <a:rPr sz="950" b="0" i="0">
                          <a:solidFill>
                            <a:srgbClr val="0E2419"/>
                          </a:solidFill>
                          <a:latin typeface="Arial"/>
                        </a:rPr>
                        <a:t>street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YOLOv5l · nc=4 · AP50 0,77</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Jalan &amp; tepi sungai Thailand, Vietnam, Sri Lanka (siang)</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Default untuk kamera jalan Bandung</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950" b="0" i="0">
                          <a:solidFill>
                            <a:srgbClr val="0E2419"/>
                          </a:solidFill>
                          <a:latin typeface="Arial"/>
                        </a:rPr>
                        <a:t>cctv</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YOLOv5s · nc=5 · AP50 0,43</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CCTV stasioner Sungai Mekong &amp; Chao Praya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Kamera yang mengarah ke sungai/kanal (sampah apung)</a:t>
                      </a:r>
                    </a:p>
                  </a:txBody>
                  <a:tcPr marL="82296" marR="82296" marT="27432" marB="27432" anchor="ctr">
                    <a:solidFill>
                      <a:srgbClr val="E8F3EC"/>
                    </a:solidFill>
                  </a:tcPr>
                </a:tc>
              </a:tr>
              <a:tr h="365760">
                <a:tc>
                  <a:txBody>
                    <a:bodyPr wrap="square"/>
                    <a:lstStyle/>
                    <a:p>
                      <a:pPr algn="l">
                        <a:lnSpc>
                          <a:spcPct val="110000"/>
                        </a:lnSpc>
                        <a:spcBef>
                          <a:spcPts val="0"/>
                        </a:spcBef>
                        <a:spcAft>
                          <a:spcPts val="0"/>
                        </a:spcAft>
                      </a:pPr>
                      <a:r>
                        <a:rPr sz="950" b="0" i="0">
                          <a:solidFill>
                            <a:srgbClr val="0E2419"/>
                          </a:solidFill>
                          <a:latin typeface="Arial"/>
                        </a:rPr>
                        <a:t>taco</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YOLOv5 · dataset TACO</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Foto close-up setinggi mata (TACO)</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Pembanding; citra jarak dekat</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950" b="0" i="0">
                          <a:solidFill>
                            <a:srgbClr val="0E2419"/>
                          </a:solidFill>
                          <a:latin typeface="Arial"/>
                        </a:rPr>
                        <a:t>novira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Model multimodal (server-side)</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Tidak dilatih bobot — membaca gambar secara multimodal</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Foto ponsel laporan warga; mengenali kardus, puing, pembuangan liar besar</a:t>
                      </a:r>
                    </a:p>
                  </a:txBody>
                  <a:tcPr marL="82296" marR="82296" marT="27432" marB="27432" anchor="ctr">
                    <a:solidFill>
                      <a:srgbClr val="E8F3EC"/>
                    </a:solidFill>
                  </a:tcPr>
                </a:tc>
              </a:tr>
            </a:tbl>
          </a:graphicData>
        </a:graphic>
      </p:graphicFrame>
      <p:sp>
        <p:nvSpPr>
          <p:cNvPr id="10" name="Rounded Rectangle 9"/>
          <p:cNvSpPr/>
          <p:nvPr/>
        </p:nvSpPr>
        <p:spPr>
          <a:xfrm>
            <a:off x="658368" y="3803904"/>
            <a:ext cx="2526715"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3803904"/>
            <a:ext cx="50292" cy="13716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3977640"/>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Sliced inference</a:t>
            </a:r>
          </a:p>
        </p:txBody>
      </p:sp>
      <p:sp>
        <p:nvSpPr>
          <p:cNvPr id="13" name="TextBox 12"/>
          <p:cNvSpPr txBox="1"/>
          <p:nvPr/>
        </p:nvSpPr>
        <p:spPr>
          <a:xfrm>
            <a:off x="896112" y="4288536"/>
            <a:ext cx="2069515" cy="822960"/>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Frame besar dipotong ubin lalu digabung dengan NMS sadar-kelas. Pada 3958×2184: 3 → 13 deteksi dengan bobot dan ambang identik.</a:t>
            </a:r>
          </a:p>
        </p:txBody>
      </p:sp>
      <p:sp>
        <p:nvSpPr>
          <p:cNvPr id="14" name="Rounded Rectangle 13"/>
          <p:cNvSpPr/>
          <p:nvPr/>
        </p:nvSpPr>
        <p:spPr>
          <a:xfrm>
            <a:off x="3441115" y="3803904"/>
            <a:ext cx="2526715"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441115" y="3803904"/>
            <a:ext cx="50292" cy="13716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78859" y="3977640"/>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ROI polygon per kamera</a:t>
            </a:r>
          </a:p>
        </p:txBody>
      </p:sp>
      <p:sp>
        <p:nvSpPr>
          <p:cNvPr id="17" name="TextBox 16"/>
          <p:cNvSpPr txBox="1"/>
          <p:nvPr/>
        </p:nvSpPr>
        <p:spPr>
          <a:xfrm>
            <a:off x="3678859" y="4288536"/>
            <a:ext cx="2069515" cy="822960"/>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Zona pantau digambar per kamera agar area tak relevan tidak ikut dinilai.</a:t>
            </a:r>
          </a:p>
        </p:txBody>
      </p:sp>
      <p:sp>
        <p:nvSpPr>
          <p:cNvPr id="18" name="Rounded Rectangle 17"/>
          <p:cNvSpPr/>
          <p:nvPr/>
        </p:nvSpPr>
        <p:spPr>
          <a:xfrm>
            <a:off x="6223863" y="3803904"/>
            <a:ext cx="2526715"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23863" y="3803904"/>
            <a:ext cx="50292" cy="137160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61607" y="3977640"/>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Coverage berbasis Otsu</a:t>
            </a:r>
          </a:p>
        </p:txBody>
      </p:sp>
      <p:sp>
        <p:nvSpPr>
          <p:cNvPr id="21" name="TextBox 20"/>
          <p:cNvSpPr txBox="1"/>
          <p:nvPr/>
        </p:nvSpPr>
        <p:spPr>
          <a:xfrm>
            <a:off x="6461607" y="4288536"/>
            <a:ext cx="2069515" cy="822960"/>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Varians intensitas lokal + titik potong Otsu per frame untuk sampah yang menyatu — tanpa memuat model, tanpa GPU.</a:t>
            </a:r>
          </a:p>
        </p:txBody>
      </p:sp>
      <p:sp>
        <p:nvSpPr>
          <p:cNvPr id="22" name="Rounded Rectangle 21"/>
          <p:cNvSpPr/>
          <p:nvPr/>
        </p:nvSpPr>
        <p:spPr>
          <a:xfrm>
            <a:off x="9006611" y="3803904"/>
            <a:ext cx="2526715"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006611" y="3803904"/>
            <a:ext cx="50292" cy="137160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44355" y="3977640"/>
            <a:ext cx="2069515"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Persistensi IoU</a:t>
            </a:r>
          </a:p>
        </p:txBody>
      </p:sp>
      <p:sp>
        <p:nvSpPr>
          <p:cNvPr id="25" name="TextBox 24"/>
          <p:cNvSpPr txBox="1"/>
          <p:nvPr/>
        </p:nvSpPr>
        <p:spPr>
          <a:xfrm>
            <a:off x="9244355" y="4288536"/>
            <a:ext cx="2069515" cy="822960"/>
          </a:xfrm>
          <a:prstGeom prst="rect">
            <a:avLst/>
          </a:prstGeom>
          <a:noFill/>
        </p:spPr>
        <p:txBody>
          <a:bodyPr wrap="square" lIns="0" rIns="0" tIns="0" bIns="0" anchor="t">
            <a:spAutoFit/>
          </a:bodyPr>
          <a:lstStyle/>
          <a:p>
            <a:pPr algn="l">
              <a:lnSpc>
                <a:spcPct val="130000"/>
              </a:lnSpc>
              <a:spcBef>
                <a:spcPts val="0"/>
              </a:spcBef>
              <a:spcAft>
                <a:spcPts val="0"/>
              </a:spcAft>
            </a:pPr>
            <a:r>
              <a:rPr sz="1000" b="0" i="0">
                <a:solidFill>
                  <a:srgbClr val="5F7568"/>
                </a:solidFill>
                <a:latin typeface="Arial"/>
              </a:rPr>
              <a:t>Deteksi baru dicocokkan ke incident terbuka lewat tumpang tindih kotak: satu tumpukan yang bertahan memperpanjang durasi, bukan membuat duplikat.</a:t>
            </a:r>
          </a:p>
        </p:txBody>
      </p:sp>
      <p:sp>
        <p:nvSpPr>
          <p:cNvPr id="26" name="Rounded Rectangle 25"/>
          <p:cNvSpPr/>
          <p:nvPr/>
        </p:nvSpPr>
        <p:spPr>
          <a:xfrm>
            <a:off x="658368" y="5495544"/>
            <a:ext cx="10874959" cy="736092"/>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5495544"/>
            <a:ext cx="54864" cy="736092"/>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96112" y="5650992"/>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Catatan desain</a:t>
            </a:r>
          </a:p>
        </p:txBody>
      </p:sp>
      <p:sp>
        <p:nvSpPr>
          <p:cNvPr id="29" name="TextBox 28"/>
          <p:cNvSpPr txBox="1"/>
          <p:nvPr/>
        </p:nvSpPr>
        <p:spPr>
          <a:xfrm>
            <a:off x="896112" y="5916168"/>
            <a:ext cx="10417759" cy="187451"/>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Ini sengaja bukan tracking video frame-demi-frame dan tidak ada klip yang disimpan — konsekuensi dari tidak tersedianya akses RTSP.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Pengujian model</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Akurasi: di dataset asal vs di CCTV Bandung</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Target mAP50 ≥ 0,70 terpenuhi pada dataset asal. Pada citra CCTV Kota Bandung, hasilnya berbeda jauh.</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24 / 37</a:t>
            </a:r>
          </a:p>
        </p:txBody>
      </p:sp>
      <p:sp>
        <p:nvSpPr>
          <p:cNvPr id="9" name="TextBox 8"/>
          <p:cNvSpPr txBox="1"/>
          <p:nvPr/>
        </p:nvSpPr>
        <p:spPr>
          <a:xfrm>
            <a:off x="658368" y="1847088"/>
            <a:ext cx="5291175"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1B7A50"/>
                </a:solidFill>
                <a:latin typeface="Trebuchet MS"/>
              </a:rPr>
              <a:t>1 · Akurasi pada dataset asalnya</a:t>
            </a:r>
          </a:p>
        </p:txBody>
      </p:sp>
      <p:graphicFrame>
        <p:nvGraphicFramePr>
          <p:cNvPr id="10" name="Table 9"/>
          <p:cNvGraphicFramePr>
            <a:graphicFrameLocks noGrp="1"/>
          </p:cNvGraphicFramePr>
          <p:nvPr/>
        </p:nvGraphicFramePr>
        <p:xfrm>
          <a:off x="658368" y="2212848"/>
          <a:ext cx="5291174" cy="932688"/>
        </p:xfrm>
        <a:graphic>
          <a:graphicData uri="http://schemas.openxmlformats.org/drawingml/2006/table">
            <a:tbl>
              <a:tblPr firstRow="1" bandRow="1">
                <a:tableStyleId>{5C22544A-7EE6-4342-B048-85BDC9FD1C3A}</a:tableStyleId>
              </a:tblPr>
              <a:tblGrid>
                <a:gridCol w="2116470"/>
                <a:gridCol w="2010646"/>
                <a:gridCol w="1164058"/>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Model</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Arsitektur</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AP50</a:t>
                      </a:r>
                    </a:p>
                  </a:txBody>
                  <a:tcPr marL="82296" marR="82296" marT="36576" marB="36576" anchor="ctr">
                    <a:solidFill>
                      <a:srgbClr val="0D3B26"/>
                    </a:solidFill>
                  </a:tcPr>
                </a:tc>
              </a:tr>
              <a:tr h="310896">
                <a:tc>
                  <a:txBody>
                    <a:bodyPr wrap="square"/>
                    <a:lstStyle/>
                    <a:p>
                      <a:pPr algn="l">
                        <a:lnSpc>
                          <a:spcPct val="110000"/>
                        </a:lnSpc>
                        <a:spcBef>
                          <a:spcPts val="0"/>
                        </a:spcBef>
                        <a:spcAft>
                          <a:spcPts val="0"/>
                        </a:spcAft>
                      </a:pPr>
                      <a:r>
                        <a:rPr sz="1000" b="0" i="0">
                          <a:solidFill>
                            <a:srgbClr val="0E2419"/>
                          </a:solidFill>
                          <a:latin typeface="Arial"/>
                        </a:rPr>
                        <a:t>pLitterStreet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00" b="0" i="0">
                          <a:solidFill>
                            <a:srgbClr val="0E2419"/>
                          </a:solidFill>
                          <a:latin typeface="Arial"/>
                        </a:rPr>
                        <a:t>YOLOv5l (nc=4)</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00" b="1" i="0">
                          <a:solidFill>
                            <a:srgbClr val="1B7A50"/>
                          </a:solidFill>
                          <a:latin typeface="Arial"/>
                        </a:rPr>
                        <a:t>0,77</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1000" b="0" i="0">
                          <a:solidFill>
                            <a:srgbClr val="0E2419"/>
                          </a:solidFill>
                          <a:latin typeface="Arial"/>
                        </a:rPr>
                        <a:t>pLitterFloat</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00" b="0" i="0">
                          <a:solidFill>
                            <a:srgbClr val="0E2419"/>
                          </a:solidFill>
                          <a:latin typeface="Arial"/>
                        </a:rPr>
                        <a:t>YOLOv5s (nc=5)</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00" b="1" i="0">
                          <a:solidFill>
                            <a:srgbClr val="C08A1A"/>
                          </a:solidFill>
                          <a:latin typeface="Arial"/>
                        </a:rPr>
                        <a:t>0,43</a:t>
                      </a:r>
                    </a:p>
                  </a:txBody>
                  <a:tcPr marL="82296" marR="82296" marT="27432" marB="27432" anchor="ctr">
                    <a:solidFill>
                      <a:srgbClr val="E8F3EC"/>
                    </a:solidFill>
                  </a:tcPr>
                </a:tc>
              </a:tr>
            </a:tbl>
          </a:graphicData>
        </a:graphic>
      </p:graphicFrame>
      <p:sp>
        <p:nvSpPr>
          <p:cNvPr id="11" name="TextBox 10"/>
          <p:cNvSpPr txBox="1"/>
          <p:nvPr/>
        </p:nvSpPr>
        <p:spPr>
          <a:xfrm>
            <a:off x="658368" y="3310128"/>
            <a:ext cx="5291175" cy="548640"/>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5F7568"/>
                </a:solidFill>
                <a:latin typeface="Arial"/>
              </a:rPr>
              <a:t>Diuji pada 47 frame dari 293 kamera aktif, model street, sliced inference, ambang 0,25. Seluruh 21 deteksi diperiksa satu per satu secara manual.</a:t>
            </a:r>
          </a:p>
        </p:txBody>
      </p:sp>
      <p:sp>
        <p:nvSpPr>
          <p:cNvPr id="12" name="TextBox 11"/>
          <p:cNvSpPr txBox="1"/>
          <p:nvPr/>
        </p:nvSpPr>
        <p:spPr>
          <a:xfrm>
            <a:off x="6242151" y="1847088"/>
            <a:ext cx="5291175"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B93A2B"/>
                </a:solidFill>
                <a:latin typeface="Trebuchet MS"/>
              </a:rPr>
              <a:t>2 · Vonis manual pada CCTV Kota Bandung</a:t>
            </a:r>
          </a:p>
        </p:txBody>
      </p:sp>
      <p:graphicFrame>
        <p:nvGraphicFramePr>
          <p:cNvPr id="13" name="Table 12"/>
          <p:cNvGraphicFramePr>
            <a:graphicFrameLocks noGrp="1"/>
          </p:cNvGraphicFramePr>
          <p:nvPr/>
        </p:nvGraphicFramePr>
        <p:xfrm>
          <a:off x="6242151" y="2212848"/>
          <a:ext cx="5291174" cy="1463040"/>
        </p:xfrm>
        <a:graphic>
          <a:graphicData uri="http://schemas.openxmlformats.org/drawingml/2006/table">
            <a:tbl>
              <a:tblPr firstRow="1" bandRow="1">
                <a:tableStyleId>{5C22544A-7EE6-4342-B048-85BDC9FD1C3A}</a:tableStyleId>
              </a:tblPr>
              <a:tblGrid>
                <a:gridCol w="3280528"/>
                <a:gridCol w="1005323"/>
                <a:gridCol w="1005323"/>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Vonis</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Jumlah</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t>
                      </a:r>
                    </a:p>
                  </a:txBody>
                  <a:tcPr marL="82296" marR="82296" marT="36576" marB="36576" anchor="ctr">
                    <a:solidFill>
                      <a:srgbClr val="0D3B26"/>
                    </a:solidFill>
                  </a:tcPr>
                </a:tc>
              </a:tr>
              <a:tr h="384048">
                <a:tc>
                  <a:txBody>
                    <a:bodyPr wrap="square"/>
                    <a:lstStyle/>
                    <a:p>
                      <a:pPr algn="l">
                        <a:lnSpc>
                          <a:spcPct val="110000"/>
                        </a:lnSpc>
                        <a:spcBef>
                          <a:spcPts val="0"/>
                        </a:spcBef>
                        <a:spcAft>
                          <a:spcPts val="0"/>
                        </a:spcAft>
                      </a:pPr>
                      <a:r>
                        <a:rPr sz="950" b="0" i="0">
                          <a:solidFill>
                            <a:srgbClr val="0E2419"/>
                          </a:solidFill>
                          <a:latin typeface="Arial"/>
                        </a:rPr>
                        <a:t>Jelas salah — mobil, motor, pengendara, marka, teks overlay</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1" i="0">
                          <a:solidFill>
                            <a:srgbClr val="B93A2B"/>
                          </a:solidFill>
                          <a:latin typeface="Arial"/>
                        </a:rPr>
                        <a:t>12</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1" i="0">
                          <a:solidFill>
                            <a:srgbClr val="B93A2B"/>
                          </a:solidFill>
                          <a:latin typeface="Arial"/>
                        </a:rPr>
                        <a:t>57%</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950" b="0" i="0">
                          <a:solidFill>
                            <a:srgbClr val="0E2419"/>
                          </a:solidFill>
                          <a:latin typeface="Arial"/>
                        </a:rPr>
                        <a:t>Tidak terverifikasi pada resolusi ini</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6</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29%</a:t>
                      </a:r>
                    </a:p>
                  </a:txBody>
                  <a:tcPr marL="82296" marR="82296" marT="27432" marB="27432" anchor="ctr">
                    <a:solidFill>
                      <a:srgbClr val="E8F3EC"/>
                    </a:solidFill>
                  </a:tcPr>
                </a:tc>
              </a:tr>
              <a:tr h="384048">
                <a:tc>
                  <a:txBody>
                    <a:bodyPr wrap="square"/>
                    <a:lstStyle/>
                    <a:p>
                      <a:pPr algn="l">
                        <a:lnSpc>
                          <a:spcPct val="110000"/>
                        </a:lnSpc>
                        <a:spcBef>
                          <a:spcPts val="0"/>
                        </a:spcBef>
                        <a:spcAft>
                          <a:spcPts val="0"/>
                        </a:spcAft>
                      </a:pPr>
                      <a:r>
                        <a:rPr sz="950" b="0" i="0">
                          <a:solidFill>
                            <a:srgbClr val="0E2419"/>
                          </a:solidFill>
                          <a:latin typeface="Arial"/>
                        </a:rPr>
                        <a:t>Masuk akal</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1" i="0">
                          <a:solidFill>
                            <a:srgbClr val="1B7A50"/>
                          </a:solidFill>
                          <a:latin typeface="Arial"/>
                        </a:rPr>
                        <a:t>3</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1" i="0">
                          <a:solidFill>
                            <a:srgbClr val="1B7A50"/>
                          </a:solidFill>
                          <a:latin typeface="Arial"/>
                        </a:rPr>
                        <a:t>14%</a:t>
                      </a:r>
                    </a:p>
                  </a:txBody>
                  <a:tcPr marL="82296" marR="82296" marT="27432" marB="27432" anchor="ctr">
                    <a:solidFill>
                      <a:srgbClr val="FFFFFF"/>
                    </a:solidFill>
                  </a:tcPr>
                </a:tc>
              </a:tr>
            </a:tbl>
          </a:graphicData>
        </a:graphic>
      </p:graphicFrame>
      <p:sp>
        <p:nvSpPr>
          <p:cNvPr id="14" name="Rounded Rectangle 13"/>
          <p:cNvSpPr/>
          <p:nvPr/>
        </p:nvSpPr>
        <p:spPr>
          <a:xfrm>
            <a:off x="658368" y="3950208"/>
            <a:ext cx="5291175" cy="1074419"/>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58368" y="3950208"/>
            <a:ext cx="54864" cy="1074419"/>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4105656"/>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Uji 1 — menaikkan ambang tidak menolong</a:t>
            </a:r>
          </a:p>
        </p:txBody>
      </p:sp>
      <p:sp>
        <p:nvSpPr>
          <p:cNvPr id="17" name="TextBox 16"/>
          <p:cNvSpPr txBox="1"/>
          <p:nvPr/>
        </p:nvSpPr>
        <p:spPr>
          <a:xfrm>
            <a:off x="896112" y="4370832"/>
            <a:ext cx="4833975"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Deteksi berskor tertinggi (0,74) justru salah. Pada ambang ≥ 0,50 tersisa 7 deteksi, 5 di antaranya tetap salah. Kesalahan model tidak berkorelasi dengan rendahnya skor kepercayaan.</a:t>
            </a:r>
          </a:p>
        </p:txBody>
      </p:sp>
      <p:sp>
        <p:nvSpPr>
          <p:cNvPr id="18" name="Rounded Rectangle 17"/>
          <p:cNvSpPr/>
          <p:nvPr/>
        </p:nvSpPr>
        <p:spPr>
          <a:xfrm>
            <a:off x="6242151" y="3950208"/>
            <a:ext cx="5291175" cy="1074419"/>
          </a:xfrm>
          <a:prstGeom prst="roundRect">
            <a:avLst>
              <a:gd name="adj" fmla="val 5000"/>
            </a:avLst>
          </a:prstGeom>
          <a:solidFill>
            <a:srgbClr val="FAE9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2151" y="3950208"/>
            <a:ext cx="54864" cy="1074419"/>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79895" y="4105656"/>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B93A2B"/>
                </a:solidFill>
                <a:latin typeface="Trebuchet MS"/>
              </a:rPr>
              <a:t>Uji 2 — model buta pada sampah yang jelas terlihat</a:t>
            </a:r>
          </a:p>
        </p:txBody>
      </p:sp>
      <p:sp>
        <p:nvSpPr>
          <p:cNvPr id="21" name="TextBox 20"/>
          <p:cNvSpPr txBox="1"/>
          <p:nvPr/>
        </p:nvSpPr>
        <p:spPr>
          <a:xfrm>
            <a:off x="6479895" y="4370832"/>
            <a:ext cx="4833975"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Pada dua citra close-up tumpukan kantong sampah: nol deteksi bahkan pada ambang 0,01. Terverifikasi bukan kesalahan pipeline — ambang terbukti berpengaruh pada citra lain (3 → 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Pengujian model</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Kesenjangan ini tidak dapat ditutup dengan penyetelan parameter</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25 / 37</a:t>
            </a:r>
          </a:p>
        </p:txBody>
      </p:sp>
      <p:sp>
        <p:nvSpPr>
          <p:cNvPr id="8" name="TextBox 7"/>
          <p:cNvSpPr txBox="1"/>
          <p:nvPr/>
        </p:nvSpPr>
        <p:spPr>
          <a:xfrm>
            <a:off x="658368" y="1389888"/>
            <a:ext cx="4784982"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0E2419"/>
                </a:solidFill>
                <a:latin typeface="Trebuchet MS"/>
              </a:rPr>
              <a:t>Perbandingan lintas model pada kondisi ekstrem</a:t>
            </a:r>
          </a:p>
        </p:txBody>
      </p:sp>
      <p:sp>
        <p:nvSpPr>
          <p:cNvPr id="9" name="TextBox 8"/>
          <p:cNvSpPr txBox="1"/>
          <p:nvPr/>
        </p:nvSpPr>
        <p:spPr>
          <a:xfrm>
            <a:off x="658368" y="1700784"/>
            <a:ext cx="4784982" cy="457200"/>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5F7568"/>
                </a:solidFill>
                <a:latin typeface="Arial"/>
              </a:rPr>
              <a:t>Frame siang hari sebuah kanal yang tertutup hamparan sampah, di dalam poligon ROI yang digambar tepat di atas sampahnya.</a:t>
            </a:r>
          </a:p>
        </p:txBody>
      </p:sp>
      <p:graphicFrame>
        <p:nvGraphicFramePr>
          <p:cNvPr id="10" name="Table 9"/>
          <p:cNvGraphicFramePr>
            <a:graphicFrameLocks noGrp="1"/>
          </p:cNvGraphicFramePr>
          <p:nvPr/>
        </p:nvGraphicFramePr>
        <p:xfrm>
          <a:off x="658368" y="2231136"/>
          <a:ext cx="4784980" cy="1298448"/>
        </p:xfrm>
        <a:graphic>
          <a:graphicData uri="http://schemas.openxmlformats.org/drawingml/2006/table">
            <a:tbl>
              <a:tblPr firstRow="1" bandRow="1">
                <a:tableStyleId>{5C22544A-7EE6-4342-B048-85BDC9FD1C3A}</a:tableStyleId>
              </a:tblPr>
              <a:tblGrid>
                <a:gridCol w="1913992"/>
                <a:gridCol w="1435494"/>
                <a:gridCol w="1435494"/>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Model</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Ambang 0,2</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Ambang 0,02</a:t>
                      </a:r>
                    </a:p>
                  </a:txBody>
                  <a:tcPr marL="82296" marR="82296" marT="36576" marB="36576" anchor="ctr">
                    <a:solidFill>
                      <a:srgbClr val="0D3B26"/>
                    </a:solidFill>
                  </a:tcPr>
                </a:tc>
              </a:tr>
              <a:tr h="329184">
                <a:tc>
                  <a:txBody>
                    <a:bodyPr wrap="square"/>
                    <a:lstStyle/>
                    <a:p>
                      <a:pPr algn="l">
                        <a:lnSpc>
                          <a:spcPct val="110000"/>
                        </a:lnSpc>
                        <a:spcBef>
                          <a:spcPts val="0"/>
                        </a:spcBef>
                        <a:spcAft>
                          <a:spcPts val="0"/>
                        </a:spcAft>
                      </a:pPr>
                      <a:r>
                        <a:rPr sz="1050" b="0" i="0">
                          <a:solidFill>
                            <a:srgbClr val="0E2419"/>
                          </a:solidFill>
                          <a:latin typeface="Arial"/>
                        </a:rPr>
                        <a:t>street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1" i="0">
                          <a:solidFill>
                            <a:srgbClr val="B93A2B"/>
                          </a:solidFill>
                          <a:latin typeface="Arial"/>
                        </a:rPr>
                        <a:t>0</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1" i="0">
                          <a:solidFill>
                            <a:srgbClr val="B93A2B"/>
                          </a:solidFill>
                          <a:latin typeface="Arial"/>
                        </a:rPr>
                        <a:t>0</a:t>
                      </a:r>
                    </a:p>
                  </a:txBody>
                  <a:tcPr marL="82296" marR="82296" marT="27432" marB="27432" anchor="ctr">
                    <a:solidFill>
                      <a:srgbClr val="FFFFFF"/>
                    </a:solidFill>
                  </a:tcPr>
                </a:tc>
              </a:tr>
              <a:tr h="329184">
                <a:tc>
                  <a:txBody>
                    <a:bodyPr wrap="square"/>
                    <a:lstStyle/>
                    <a:p>
                      <a:pPr algn="l">
                        <a:lnSpc>
                          <a:spcPct val="110000"/>
                        </a:lnSpc>
                        <a:spcBef>
                          <a:spcPts val="0"/>
                        </a:spcBef>
                        <a:spcAft>
                          <a:spcPts val="0"/>
                        </a:spcAft>
                      </a:pPr>
                      <a:r>
                        <a:rPr sz="1050" b="0" i="0">
                          <a:solidFill>
                            <a:srgbClr val="0E2419"/>
                          </a:solidFill>
                          <a:latin typeface="Arial"/>
                        </a:rPr>
                        <a:t>taco</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50" b="1" i="0">
                          <a:solidFill>
                            <a:srgbClr val="B93A2B"/>
                          </a:solidFill>
                          <a:latin typeface="Arial"/>
                        </a:rPr>
                        <a:t>0</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50" b="0" i="0">
                          <a:solidFill>
                            <a:srgbClr val="0E2419"/>
                          </a:solidFill>
                          <a:latin typeface="Arial"/>
                        </a:rPr>
                        <a:t>2</a:t>
                      </a:r>
                    </a:p>
                  </a:txBody>
                  <a:tcPr marL="82296" marR="82296" marT="27432" marB="27432" anchor="ctr">
                    <a:solidFill>
                      <a:srgbClr val="E8F3EC"/>
                    </a:solidFill>
                  </a:tcPr>
                </a:tc>
              </a:tr>
              <a:tr h="329184">
                <a:tc>
                  <a:txBody>
                    <a:bodyPr wrap="square"/>
                    <a:lstStyle/>
                    <a:p>
                      <a:pPr algn="l">
                        <a:lnSpc>
                          <a:spcPct val="110000"/>
                        </a:lnSpc>
                        <a:spcBef>
                          <a:spcPts val="0"/>
                        </a:spcBef>
                        <a:spcAft>
                          <a:spcPts val="0"/>
                        </a:spcAft>
                      </a:pPr>
                      <a:r>
                        <a:rPr sz="1050" b="0" i="0">
                          <a:solidFill>
                            <a:srgbClr val="0E2419"/>
                          </a:solidFill>
                          <a:latin typeface="Arial"/>
                        </a:rPr>
                        <a:t>cctv</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0" i="0">
                          <a:solidFill>
                            <a:srgbClr val="0E2419"/>
                          </a:solidFill>
                          <a:latin typeface="Arial"/>
                        </a:rPr>
                        <a:t>2</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0" i="0">
                          <a:solidFill>
                            <a:srgbClr val="0E2419"/>
                          </a:solidFill>
                          <a:latin typeface="Arial"/>
                        </a:rPr>
                        <a:t>13</a:t>
                      </a:r>
                    </a:p>
                  </a:txBody>
                  <a:tcPr marL="82296" marR="82296" marT="27432" marB="27432" anchor="ctr">
                    <a:solidFill>
                      <a:srgbClr val="FFFFFF"/>
                    </a:solidFill>
                  </a:tcPr>
                </a:tc>
              </a:tr>
            </a:tbl>
          </a:graphicData>
        </a:graphic>
      </p:graphicFrame>
      <p:sp>
        <p:nvSpPr>
          <p:cNvPr id="11" name="TextBox 10"/>
          <p:cNvSpPr txBox="1"/>
          <p:nvPr/>
        </p:nvSpPr>
        <p:spPr>
          <a:xfrm>
            <a:off x="658368" y="3529584"/>
            <a:ext cx="4784982" cy="64008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5F7568"/>
                </a:solidFill>
                <a:latin typeface="Arial"/>
              </a:rPr>
              <a:t>Dijalankan tanpa ROI pada frame yang sama, ketiga belas deteksi model cctv mendarat pada dua mobil, sebuah pikap, dan tulisan watermark stasiun itu sendiri — tidak satu pun mendarat pada sampahnya.</a:t>
            </a:r>
          </a:p>
        </p:txBody>
      </p:sp>
      <p:sp>
        <p:nvSpPr>
          <p:cNvPr id="12" name="Rounded Rectangle 11"/>
          <p:cNvSpPr/>
          <p:nvPr/>
        </p:nvSpPr>
        <p:spPr>
          <a:xfrm>
            <a:off x="5754246" y="1389888"/>
            <a:ext cx="5779081" cy="1243584"/>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754246" y="1389888"/>
            <a:ext cx="54864" cy="1243584"/>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91990" y="1545336"/>
            <a:ext cx="53218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Ini persoalan rumusan soal, bukan kualitas model</a:t>
            </a:r>
          </a:p>
        </p:txBody>
      </p:sp>
      <p:sp>
        <p:nvSpPr>
          <p:cNvPr id="15" name="TextBox 14"/>
          <p:cNvSpPr txBox="1"/>
          <p:nvPr/>
        </p:nvSpPr>
        <p:spPr>
          <a:xfrm>
            <a:off x="5991990" y="1810512"/>
            <a:ext cx="5321881"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Object detection menanyakan “di mana item-itemnya berada”, yang mengandaikan setiap item punya batas. Hamparan sampah yang menyatu tidak memiliki batas antar-objek. Pertanyaan yang dapat dijawab adalah “berapa fraksi permukaan yang tertutup” — dan itu ranah segmentasi.</a:t>
            </a:r>
          </a:p>
        </p:txBody>
      </p:sp>
      <p:sp>
        <p:nvSpPr>
          <p:cNvPr id="16" name="Rounded Rectangle 15"/>
          <p:cNvSpPr/>
          <p:nvPr/>
        </p:nvSpPr>
        <p:spPr>
          <a:xfrm>
            <a:off x="5754246" y="2798064"/>
            <a:ext cx="5779081" cy="1074419"/>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754246" y="2798064"/>
            <a:ext cx="54864" cy="1074419"/>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991990" y="2953512"/>
            <a:ext cx="53218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Jawaban yang kami implementasikan</a:t>
            </a:r>
          </a:p>
        </p:txBody>
      </p:sp>
      <p:sp>
        <p:nvSpPr>
          <p:cNvPr id="19" name="TextBox 18"/>
          <p:cNvSpPr txBox="1"/>
          <p:nvPr/>
        </p:nvSpPr>
        <p:spPr>
          <a:xfrm>
            <a:off x="5991990" y="3218688"/>
            <a:ext cx="5321881"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Varians intensitas lokal (air terbuka bertekstur mulus, hamparan sampah tidak) dengan titik potong Otsu yang dihitung per frame agar tahan terhadap perubahan sudut matahari dan warna air.</a:t>
            </a:r>
          </a:p>
        </p:txBody>
      </p:sp>
      <p:sp>
        <p:nvSpPr>
          <p:cNvPr id="20" name="Rounded Rectangle 19"/>
          <p:cNvSpPr/>
          <p:nvPr/>
        </p:nvSpPr>
        <p:spPr>
          <a:xfrm>
            <a:off x="5754246" y="4037075"/>
            <a:ext cx="5779081"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754246" y="4037075"/>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991990" y="4192523"/>
            <a:ext cx="53218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Hasil: pemisahan 44 poin</a:t>
            </a:r>
          </a:p>
        </p:txBody>
      </p:sp>
      <p:sp>
        <p:nvSpPr>
          <p:cNvPr id="23" name="TextBox 22"/>
          <p:cNvSpPr txBox="1"/>
          <p:nvPr/>
        </p:nvSpPr>
        <p:spPr>
          <a:xfrm>
            <a:off x="5991990" y="4457699"/>
            <a:ext cx="5321881"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56,6% tutupan pada kanal bersampah versus 13,0% pada kanal bersih dalam gambar yang sama — tanpa memuat model apa pun, sehingga tidak membutuhkan GPU.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Training</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Bagaimana kami melatihnya — baseline dan dataset</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Pelatihan dimulai dari bobot pLitterStreet_YOLOv5l.pt, bukan dari nol.</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26 / 37</a:t>
            </a:r>
          </a:p>
        </p:txBody>
      </p:sp>
      <p:sp>
        <p:nvSpPr>
          <p:cNvPr id="9" name="Rounded Rectangle 8"/>
          <p:cNvSpPr/>
          <p:nvPr/>
        </p:nvSpPr>
        <p:spPr>
          <a:xfrm>
            <a:off x="658368" y="1847088"/>
            <a:ext cx="5002481" cy="1412748"/>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4864" cy="14127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02536"/>
            <a:ext cx="45452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Baseline yang diwarisi</a:t>
            </a:r>
          </a:p>
        </p:txBody>
      </p:sp>
      <p:sp>
        <p:nvSpPr>
          <p:cNvPr id="12" name="TextBox 11"/>
          <p:cNvSpPr txBox="1"/>
          <p:nvPr/>
        </p:nvSpPr>
        <p:spPr>
          <a:xfrm>
            <a:off x="896112" y="2267712"/>
            <a:ext cx="4545281" cy="864108"/>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Ruang label sengaja dipertahankan pada empat kelas asli (Plastic, Pile, Face mask, Trash bin) agar detection head (nc=4, 27 kanal keluaran) dapat dimuat apa adanya dan AP50 0,77 ikut terwarisi. Menambah kelas berarti membedah detection head dan pelatihan jauh lebih panjang tanpa jaminan hasil lebih baik.</a:t>
            </a:r>
          </a:p>
        </p:txBody>
      </p:sp>
      <p:sp>
        <p:nvSpPr>
          <p:cNvPr id="13" name="Rounded Rectangle 12"/>
          <p:cNvSpPr/>
          <p:nvPr/>
        </p:nvSpPr>
        <p:spPr>
          <a:xfrm>
            <a:off x="658368" y="3442716"/>
            <a:ext cx="5002481" cy="1243584"/>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58368" y="3442716"/>
            <a:ext cx="54864" cy="1243584"/>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96112" y="3598164"/>
            <a:ext cx="45452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Mengapa tidak dilatih di perangkat lokal</a:t>
            </a:r>
          </a:p>
        </p:txBody>
      </p:sp>
      <p:sp>
        <p:nvSpPr>
          <p:cNvPr id="16" name="TextBox 15"/>
          <p:cNvSpPr txBox="1"/>
          <p:nvPr/>
        </p:nvSpPr>
        <p:spPr>
          <a:xfrm>
            <a:off x="896112" y="3863340"/>
            <a:ext cx="4545281"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Arsitektur YOLOv5l terlalu berat untuk akselerator terintegrasi. Data yang perlu diunggah ke mesin GPU hanya 7,5 MB berisi negatif kendaraan; dataset publik diunduh ulang di sisi cloud sehingga 2,4 GB tidak perlu dikirim dari koneksi rumah.</a:t>
            </a:r>
          </a:p>
        </p:txBody>
      </p:sp>
      <p:sp>
        <p:nvSpPr>
          <p:cNvPr id="17" name="TextBox 16"/>
          <p:cNvSpPr txBox="1"/>
          <p:nvPr/>
        </p:nvSpPr>
        <p:spPr>
          <a:xfrm>
            <a:off x="5971745" y="1847088"/>
            <a:ext cx="5561581"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0E2419"/>
                </a:solidFill>
                <a:latin typeface="Trebuchet MS"/>
              </a:rPr>
              <a:t>Dataset yang telah disiapkan</a:t>
            </a:r>
          </a:p>
        </p:txBody>
      </p:sp>
      <p:graphicFrame>
        <p:nvGraphicFramePr>
          <p:cNvPr id="18" name="Table 17"/>
          <p:cNvGraphicFramePr>
            <a:graphicFrameLocks noGrp="1"/>
          </p:cNvGraphicFramePr>
          <p:nvPr/>
        </p:nvGraphicFramePr>
        <p:xfrm>
          <a:off x="5971745" y="2212848"/>
          <a:ext cx="5561581" cy="2139696"/>
        </p:xfrm>
        <a:graphic>
          <a:graphicData uri="http://schemas.openxmlformats.org/drawingml/2006/table">
            <a:tbl>
              <a:tblPr firstRow="1" bandRow="1">
                <a:tableStyleId>{5C22544A-7EE6-4342-B048-85BDC9FD1C3A}</a:tableStyleId>
              </a:tblPr>
              <a:tblGrid>
                <a:gridCol w="3670644"/>
                <a:gridCol w="1890937"/>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Komponen</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Jumlah</a:t>
                      </a:r>
                    </a:p>
                  </a:txBody>
                  <a:tcPr marL="82296" marR="82296" marT="36576" marB="36576" anchor="ctr">
                    <a:solidFill>
                      <a:srgbClr val="0D3B26"/>
                    </a:solidFill>
                  </a:tcPr>
                </a:tc>
              </a:tr>
              <a:tr h="365760">
                <a:tc>
                  <a:txBody>
                    <a:bodyPr wrap="square"/>
                    <a:lstStyle/>
                    <a:p>
                      <a:pPr algn="l">
                        <a:lnSpc>
                          <a:spcPct val="110000"/>
                        </a:lnSpc>
                        <a:spcBef>
                          <a:spcPts val="0"/>
                        </a:spcBef>
                        <a:spcAft>
                          <a:spcPts val="0"/>
                        </a:spcAft>
                      </a:pPr>
                      <a:r>
                        <a:rPr sz="950" b="0" i="0">
                          <a:solidFill>
                            <a:srgbClr val="0E2419"/>
                          </a:solidFill>
                          <a:latin typeface="Arial"/>
                        </a:rPr>
                        <a:t>Positif TACO (8 kelas dipetakan ke kelas Plastic)</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1.878</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950" b="0" i="0">
                          <a:solidFill>
                            <a:srgbClr val="0E2419"/>
                          </a:solidFill>
                          <a:latin typeface="Arial"/>
                        </a:rPr>
                        <a:t>Negatif kendaraan dari kamera Bandung (label kosong)</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272</a:t>
                      </a:r>
                    </a:p>
                  </a:txBody>
                  <a:tcPr marL="82296" marR="82296" marT="27432" marB="27432" anchor="ctr">
                    <a:solidFill>
                      <a:srgbClr val="E8F3EC"/>
                    </a:solidFill>
                  </a:tcPr>
                </a:tc>
              </a:tr>
              <a:tr h="365760">
                <a:tc>
                  <a:txBody>
                    <a:bodyPr wrap="square"/>
                    <a:lstStyle/>
                    <a:p>
                      <a:pPr algn="l">
                        <a:lnSpc>
                          <a:spcPct val="110000"/>
                        </a:lnSpc>
                        <a:spcBef>
                          <a:spcPts val="0"/>
                        </a:spcBef>
                        <a:spcAft>
                          <a:spcPts val="0"/>
                        </a:spcAft>
                      </a:pPr>
                      <a:r>
                        <a:rPr sz="950" b="0" i="0">
                          <a:solidFill>
                            <a:srgbClr val="0E2419"/>
                          </a:solidFill>
                          <a:latin typeface="Arial"/>
                        </a:rPr>
                        <a:t>Negatif COCO warisan iterasi sebelumnya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±325</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950" b="0" i="0">
                          <a:solidFill>
                            <a:srgbClr val="0E2419"/>
                          </a:solidFill>
                          <a:latin typeface="Arial"/>
                        </a:rPr>
                        <a:t>Pembagian latih / validasi</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1" i="0">
                          <a:solidFill>
                            <a:srgbClr val="1B7A50"/>
                          </a:solidFill>
                          <a:latin typeface="Arial"/>
                        </a:rPr>
                        <a:t>1.829 / 321</a:t>
                      </a:r>
                    </a:p>
                  </a:txBody>
                  <a:tcPr marL="82296" marR="82296" marT="27432" marB="27432" anchor="ctr">
                    <a:solidFill>
                      <a:srgbClr val="E8F3EC"/>
                    </a:solidFill>
                  </a:tcPr>
                </a:tc>
              </a:tr>
              <a:tr h="365760">
                <a:tc>
                  <a:txBody>
                    <a:bodyPr wrap="square"/>
                    <a:lstStyle/>
                    <a:p>
                      <a:pPr algn="l">
                        <a:lnSpc>
                          <a:spcPct val="110000"/>
                        </a:lnSpc>
                        <a:spcBef>
                          <a:spcPts val="0"/>
                        </a:spcBef>
                        <a:spcAft>
                          <a:spcPts val="0"/>
                        </a:spcAft>
                      </a:pPr>
                      <a:r>
                        <a:rPr sz="950" b="0" i="0">
                          <a:solidFill>
                            <a:srgbClr val="0E2419"/>
                          </a:solidFill>
                          <a:latin typeface="Arial"/>
                        </a:rPr>
                        <a:t>Dataset publik pLitterStreet (COCO → YOLO, terverifikasi)</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1" i="0">
                          <a:solidFill>
                            <a:srgbClr val="1B7A50"/>
                          </a:solidFill>
                          <a:latin typeface="Arial"/>
                        </a:rPr>
                        <a:t>12.111 citra / 70.380 kotak</a:t>
                      </a:r>
                    </a:p>
                  </a:txBody>
                  <a:tcPr marL="82296" marR="82296" marT="27432" marB="27432" anchor="ctr">
                    <a:solidFill>
                      <a:srgbClr val="FFFFFF"/>
                    </a:solidFill>
                  </a:tcPr>
                </a:tc>
              </a:tr>
            </a:tbl>
          </a:graphicData>
        </a:graphic>
      </p:graphicFrame>
      <p:sp>
        <p:nvSpPr>
          <p:cNvPr id="19" name="Rounded Rectangle 18"/>
          <p:cNvSpPr/>
          <p:nvPr/>
        </p:nvSpPr>
        <p:spPr>
          <a:xfrm>
            <a:off x="5971745" y="4544568"/>
            <a:ext cx="5561581" cy="1074419"/>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971745" y="4544568"/>
            <a:ext cx="54864" cy="1074419"/>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09489" y="4700016"/>
            <a:ext cx="51043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Temuan penting tentang dataset publik</a:t>
            </a:r>
          </a:p>
        </p:txBody>
      </p:sp>
      <p:sp>
        <p:nvSpPr>
          <p:cNvPr id="22" name="TextBox 21"/>
          <p:cNvSpPr txBox="1"/>
          <p:nvPr/>
        </p:nvSpPr>
        <p:spPr>
          <a:xfrm>
            <a:off x="6209489" y="4965192"/>
            <a:ext cx="5104381" cy="525779"/>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pLitterStreet sama sekali tidak memuat citra latar-saja — terverifikasi: nol dari 12.111 berkas label berisi kosong. Tidak ada apa pun di dalamnya yang mengajarkan model bahwa pengendara motor bukanlah sampah.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Training</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Mengapa negatif kendaraan wajib disertakan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57% false positive berupa kendaraan dan pengendara. Audit visual menemukan kotak berlabel Plastic mendarat tepat pada jok sepeda motor yang sedang parkir, dengan ukuran objek 7–23 piksel.</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27 / 37</a:t>
            </a:r>
          </a:p>
        </p:txBody>
      </p:sp>
      <p:graphicFrame>
        <p:nvGraphicFramePr>
          <p:cNvPr id="9" name="Table 8"/>
          <p:cNvGraphicFramePr>
            <a:graphicFrameLocks noGrp="1"/>
          </p:cNvGraphicFramePr>
          <p:nvPr/>
        </p:nvGraphicFramePr>
        <p:xfrm>
          <a:off x="658368" y="1847088"/>
          <a:ext cx="10874958" cy="1773936"/>
        </p:xfrm>
        <a:graphic>
          <a:graphicData uri="http://schemas.openxmlformats.org/drawingml/2006/table">
            <a:tbl>
              <a:tblPr firstRow="1" bandRow="1">
                <a:tableStyleId>{5C22544A-7EE6-4342-B048-85BDC9FD1C3A}</a:tableStyleId>
              </a:tblPr>
              <a:tblGrid>
                <a:gridCol w="3914985"/>
                <a:gridCol w="6959973"/>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Pendekatan perbaikan di tingkat runtime</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Hasil</a:t>
                      </a:r>
                    </a:p>
                  </a:txBody>
                  <a:tcPr marL="82296" marR="82296" marT="36576" marB="36576" anchor="ctr">
                    <a:solidFill>
                      <a:srgbClr val="0D3B26"/>
                    </a:solidFill>
                  </a:tcPr>
                </a:tc>
              </a:tr>
              <a:tr h="365760">
                <a:tc>
                  <a:txBody>
                    <a:bodyPr wrap="square"/>
                    <a:lstStyle/>
                    <a:p>
                      <a:pPr algn="l">
                        <a:lnSpc>
                          <a:spcPct val="110000"/>
                        </a:lnSpc>
                        <a:spcBef>
                          <a:spcPts val="0"/>
                        </a:spcBef>
                        <a:spcAft>
                          <a:spcPts val="0"/>
                        </a:spcAft>
                      </a:pPr>
                      <a:r>
                        <a:rPr sz="1050" b="0" i="0">
                          <a:solidFill>
                            <a:srgbClr val="0E2419"/>
                          </a:solidFill>
                          <a:latin typeface="Arial"/>
                        </a:rPr>
                        <a:t>Menaikkan ambang kepercayaan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1" i="0">
                          <a:solidFill>
                            <a:srgbClr val="B93A2B"/>
                          </a:solidFill>
                          <a:latin typeface="Arial"/>
                        </a:rPr>
                        <a:t>Gagal — deteksi berskor tertinggi (0,74) justru salah</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1050" b="0" i="0">
                          <a:solidFill>
                            <a:srgbClr val="0E2419"/>
                          </a:solidFill>
                          <a:latin typeface="Arial"/>
                        </a:rPr>
                        <a:t>Filter persistensi</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50" b="1" i="0">
                          <a:solidFill>
                            <a:srgbClr val="B93A2B"/>
                          </a:solidFill>
                          <a:latin typeface="Arial"/>
                        </a:rPr>
                        <a:t>Membuang kendaraan yang bergerak; motor parkir diam sehingga tetap lolos</a:t>
                      </a:r>
                    </a:p>
                  </a:txBody>
                  <a:tcPr marL="82296" marR="82296" marT="27432" marB="27432" anchor="ctr">
                    <a:solidFill>
                      <a:srgbClr val="E8F3EC"/>
                    </a:solidFill>
                  </a:tcPr>
                </a:tc>
              </a:tr>
              <a:tr h="365760">
                <a:tc>
                  <a:txBody>
                    <a:bodyPr wrap="square"/>
                    <a:lstStyle/>
                    <a:p>
                      <a:pPr algn="l">
                        <a:lnSpc>
                          <a:spcPct val="110000"/>
                        </a:lnSpc>
                        <a:spcBef>
                          <a:spcPts val="0"/>
                        </a:spcBef>
                        <a:spcAft>
                          <a:spcPts val="0"/>
                        </a:spcAft>
                      </a:pPr>
                      <a:r>
                        <a:rPr sz="1050" b="0" i="0">
                          <a:solidFill>
                            <a:srgbClr val="0E2419"/>
                          </a:solidFill>
                          <a:latin typeface="Arial"/>
                        </a:rPr>
                        <a:t>ROI per kamera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1050" b="1" i="0">
                          <a:solidFill>
                            <a:srgbClr val="B93A2B"/>
                          </a:solidFill>
                          <a:latin typeface="Arial"/>
                        </a:rPr>
                        <a:t>Tidak menolong — motor parkir berada di dalam zona jalan yang justru harus dipantau</a:t>
                      </a:r>
                    </a:p>
                  </a:txBody>
                  <a:tcPr marL="82296" marR="82296" marT="27432" marB="27432" anchor="ctr">
                    <a:solidFill>
                      <a:srgbClr val="FFFFFF"/>
                    </a:solidFill>
                  </a:tcPr>
                </a:tc>
              </a:tr>
              <a:tr h="365760">
                <a:tc>
                  <a:txBody>
                    <a:bodyPr wrap="square"/>
                    <a:lstStyle/>
                    <a:p>
                      <a:pPr algn="l">
                        <a:lnSpc>
                          <a:spcPct val="110000"/>
                        </a:lnSpc>
                        <a:spcBef>
                          <a:spcPts val="0"/>
                        </a:spcBef>
                        <a:spcAft>
                          <a:spcPts val="0"/>
                        </a:spcAft>
                      </a:pPr>
                      <a:r>
                        <a:rPr sz="1050" b="0" i="0">
                          <a:solidFill>
                            <a:srgbClr val="0E2419"/>
                          </a:solidFill>
                          <a:latin typeface="Arial"/>
                        </a:rPr>
                        <a:t>Filter warna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1050" b="1" i="0">
                          <a:solidFill>
                            <a:srgbClr val="B93A2B"/>
                          </a:solidFill>
                          <a:latin typeface="Arial"/>
                        </a:rPr>
                        <a:t>Terbalik — justru membuang deteksi yang benar</a:t>
                      </a:r>
                    </a:p>
                  </a:txBody>
                  <a:tcPr marL="82296" marR="82296" marT="27432" marB="27432" anchor="ctr">
                    <a:solidFill>
                      <a:srgbClr val="E8F3EC"/>
                    </a:solidFill>
                  </a:tcPr>
                </a:tc>
              </a:tr>
            </a:tbl>
          </a:graphicData>
        </a:graphic>
      </p:graphicFrame>
      <p:sp>
        <p:nvSpPr>
          <p:cNvPr id="10" name="Rounded Rectangle 9"/>
          <p:cNvSpPr/>
          <p:nvPr/>
        </p:nvSpPr>
        <p:spPr>
          <a:xfrm>
            <a:off x="658368" y="3840480"/>
            <a:ext cx="5300319"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3840480"/>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3995928"/>
            <a:ext cx="484311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Yang tersisa: mengajarkannya lewat data</a:t>
            </a:r>
          </a:p>
        </p:txBody>
      </p:sp>
      <p:sp>
        <p:nvSpPr>
          <p:cNvPr id="13" name="TextBox 12"/>
          <p:cNvSpPr txBox="1"/>
          <p:nvPr/>
        </p:nvSpPr>
        <p:spPr>
          <a:xfrm>
            <a:off x="896112" y="4261104"/>
            <a:ext cx="484311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Potongan citra berisi kendaraan diberi label kosong — cara standar YOLOv5 untuk menyatakan hard negative: “di area ini tidak ada objek target apa pun”.</a:t>
            </a:r>
          </a:p>
        </p:txBody>
      </p:sp>
      <p:sp>
        <p:nvSpPr>
          <p:cNvPr id="14" name="Rounded Rectangle 13"/>
          <p:cNvSpPr/>
          <p:nvPr/>
        </p:nvSpPr>
        <p:spPr>
          <a:xfrm>
            <a:off x="6233007" y="3840480"/>
            <a:ext cx="5300319" cy="1243584"/>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33007" y="3840480"/>
            <a:ext cx="54864" cy="1243584"/>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70751" y="3995928"/>
            <a:ext cx="484311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Kenapa harus dari kamera target sendiri</a:t>
            </a:r>
          </a:p>
        </p:txBody>
      </p:sp>
      <p:sp>
        <p:nvSpPr>
          <p:cNvPr id="17" name="TextBox 16"/>
          <p:cNvSpPr txBox="1"/>
          <p:nvPr/>
        </p:nvSpPr>
        <p:spPr>
          <a:xfrm>
            <a:off x="6470751" y="4261104"/>
            <a:ext cx="4843119"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Sudut pandang, ketinggian, resolusi, dan artefak kompresinya persis sama dengan kondisi saat inferensi. Detektor COCO dipakai hanya untuk menemukan posisi kendaraannya dan tidak pernah melabeli sampah, sehingga label positif tidak tercemar.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Training</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Rencana eksekusi dan pengukuran hasil yang adil</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28 / 37</a:t>
            </a:r>
          </a:p>
        </p:txBody>
      </p:sp>
      <p:sp>
        <p:nvSpPr>
          <p:cNvPr id="8" name="TextBox 7"/>
          <p:cNvSpPr txBox="1"/>
          <p:nvPr/>
        </p:nvSpPr>
        <p:spPr>
          <a:xfrm>
            <a:off x="658368" y="1389888"/>
            <a:ext cx="5291175" cy="274320"/>
          </a:xfrm>
          <a:prstGeom prst="rect">
            <a:avLst/>
          </a:prstGeom>
          <a:noFill/>
        </p:spPr>
        <p:txBody>
          <a:bodyPr wrap="square" lIns="0" rIns="0" tIns="0" bIns="0" anchor="t">
            <a:spAutoFit/>
          </a:bodyPr>
          <a:lstStyle/>
          <a:p>
            <a:pPr algn="l">
              <a:lnSpc>
                <a:spcPct val="112000"/>
              </a:lnSpc>
              <a:spcBef>
                <a:spcPts val="0"/>
              </a:spcBef>
              <a:spcAft>
                <a:spcPts val="0"/>
              </a:spcAft>
            </a:pPr>
            <a:r>
              <a:rPr sz="1200" b="1" i="0">
                <a:solidFill>
                  <a:srgbClr val="0E2419"/>
                </a:solidFill>
                <a:latin typeface="Trebuchet MS"/>
              </a:rPr>
              <a:t>Opsi komputasi</a:t>
            </a:r>
          </a:p>
        </p:txBody>
      </p:sp>
      <p:graphicFrame>
        <p:nvGraphicFramePr>
          <p:cNvPr id="9" name="Table 8"/>
          <p:cNvGraphicFramePr>
            <a:graphicFrameLocks noGrp="1"/>
          </p:cNvGraphicFramePr>
          <p:nvPr/>
        </p:nvGraphicFramePr>
        <p:xfrm>
          <a:off x="658368" y="1755648"/>
          <a:ext cx="5291174" cy="1554480"/>
        </p:xfrm>
        <a:graphic>
          <a:graphicData uri="http://schemas.openxmlformats.org/drawingml/2006/table">
            <a:tbl>
              <a:tblPr firstRow="1" bandRow="1">
                <a:tableStyleId>{5C22544A-7EE6-4342-B048-85BDC9FD1C3A}</a:tableStyleId>
              </a:tblPr>
              <a:tblGrid>
                <a:gridCol w="1628054"/>
                <a:gridCol w="1221040"/>
                <a:gridCol w="1322793"/>
                <a:gridCol w="1119287"/>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Opsi</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GPU</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Biaya</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Batas sesi</a:t>
                      </a:r>
                    </a:p>
                  </a:txBody>
                  <a:tcPr marL="82296" marR="82296" marT="36576" marB="36576" anchor="ctr">
                    <a:solidFill>
                      <a:srgbClr val="0D3B26"/>
                    </a:solidFill>
                  </a:tcPr>
                </a:tc>
              </a:tr>
              <a:tr h="310896">
                <a:tc>
                  <a:txBody>
                    <a:bodyPr wrap="square"/>
                    <a:lstStyle/>
                    <a:p>
                      <a:pPr algn="l">
                        <a:lnSpc>
                          <a:spcPct val="110000"/>
                        </a:lnSpc>
                        <a:spcBef>
                          <a:spcPts val="0"/>
                        </a:spcBef>
                        <a:spcAft>
                          <a:spcPts val="0"/>
                        </a:spcAft>
                      </a:pPr>
                      <a:r>
                        <a:rPr sz="900" b="0" i="0">
                          <a:solidFill>
                            <a:srgbClr val="0E2419"/>
                          </a:solidFill>
                          <a:latin typeface="Arial"/>
                        </a:rPr>
                        <a:t>Kaggle Notebooks</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P100 / 2×T4</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Gratis, 30 j/pekan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12 jam</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900" b="0" i="0">
                          <a:solidFill>
                            <a:srgbClr val="0E2419"/>
                          </a:solidFill>
                          <a:latin typeface="Arial"/>
                        </a:rPr>
                        <a:t>Google Colab (gratis)</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T4</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Gratis</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±12 jam, rawan putus</a:t>
                      </a:r>
                    </a:p>
                  </a:txBody>
                  <a:tcPr marL="82296" marR="82296" marT="27432" marB="27432" anchor="ctr">
                    <a:solidFill>
                      <a:srgbClr val="E8F3EC"/>
                    </a:solidFill>
                  </a:tcPr>
                </a:tc>
              </a:tr>
              <a:tr h="310896">
                <a:tc>
                  <a:txBody>
                    <a:bodyPr wrap="square"/>
                    <a:lstStyle/>
                    <a:p>
                      <a:pPr algn="l">
                        <a:lnSpc>
                          <a:spcPct val="110000"/>
                        </a:lnSpc>
                        <a:spcBef>
                          <a:spcPts val="0"/>
                        </a:spcBef>
                        <a:spcAft>
                          <a:spcPts val="0"/>
                        </a:spcAft>
                      </a:pPr>
                      <a:r>
                        <a:rPr sz="900" b="0" i="0">
                          <a:solidFill>
                            <a:srgbClr val="0E2419"/>
                          </a:solidFill>
                          <a:latin typeface="Arial"/>
                        </a:rPr>
                        <a:t>Google Colab Pro</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L4 / A100</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±$10/bulan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00" b="0" i="0">
                          <a:solidFill>
                            <a:srgbClr val="0E2419"/>
                          </a:solidFill>
                          <a:latin typeface="Arial"/>
                        </a:rPr>
                        <a:t>24 jam</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900" b="0" i="0">
                          <a:solidFill>
                            <a:srgbClr val="0E2419"/>
                          </a:solidFill>
                          <a:latin typeface="Arial"/>
                        </a:rPr>
                        <a:t>Vast.ai / RunPod</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RTX 4090</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±$0,35–0,60/jam</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00" b="0" i="0">
                          <a:solidFill>
                            <a:srgbClr val="0E2419"/>
                          </a:solidFill>
                          <a:latin typeface="Arial"/>
                        </a:rPr>
                        <a:t>Tanpa batas</a:t>
                      </a:r>
                    </a:p>
                  </a:txBody>
                  <a:tcPr marL="82296" marR="82296" marT="27432" marB="27432" anchor="ctr">
                    <a:solidFill>
                      <a:srgbClr val="E8F3EC"/>
                    </a:solidFill>
                  </a:tcPr>
                </a:tc>
              </a:tr>
            </a:tbl>
          </a:graphicData>
        </a:graphic>
      </p:graphicFrame>
      <p:sp>
        <p:nvSpPr>
          <p:cNvPr id="10" name="Rounded Rectangle 9"/>
          <p:cNvSpPr/>
          <p:nvPr/>
        </p:nvSpPr>
        <p:spPr>
          <a:xfrm>
            <a:off x="658368" y="3438144"/>
            <a:ext cx="5291175" cy="1243584"/>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58368" y="3438144"/>
            <a:ext cx="54864" cy="1243584"/>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3593592"/>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Estimasi waktu</a:t>
            </a:r>
          </a:p>
        </p:txBody>
      </p:sp>
      <p:sp>
        <p:nvSpPr>
          <p:cNvPr id="13" name="TextBox 12"/>
          <p:cNvSpPr txBox="1"/>
          <p:nvPr/>
        </p:nvSpPr>
        <p:spPr>
          <a:xfrm>
            <a:off x="896112" y="3858768"/>
            <a:ext cx="4833975"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YOLOv5l pada resolusi 640 px dengan ±12 ribu citra: 6–10 jam pada T4, atau 2–3 jam pada RTX 4090/A100. Varian YOLOv5s berjalan 2–3× lebih cepat dan menjadi iterasi pertama untuk memastikan pipeline berjalan sebelum menaikkan skala.</a:t>
            </a:r>
          </a:p>
        </p:txBody>
      </p:sp>
      <p:sp>
        <p:nvSpPr>
          <p:cNvPr id="14" name="Rounded Rectangle 13"/>
          <p:cNvSpPr/>
          <p:nvPr/>
        </p:nvSpPr>
        <p:spPr>
          <a:xfrm>
            <a:off x="6242151" y="1389888"/>
            <a:ext cx="5291175" cy="1243584"/>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242151" y="1389888"/>
            <a:ext cx="54864" cy="1243584"/>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79895" y="1545336"/>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Ekspektasi hasil — presisi, bukan recall</a:t>
            </a:r>
          </a:p>
        </p:txBody>
      </p:sp>
      <p:sp>
        <p:nvSpPr>
          <p:cNvPr id="17" name="TextBox 16"/>
          <p:cNvSpPr txBox="1"/>
          <p:nvPr/>
        </p:nvSpPr>
        <p:spPr>
          <a:xfrm>
            <a:off x="6479895" y="1810512"/>
            <a:ext cx="4833975"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Yang wajar diharapkan: berkurangnya false positive kendaraan. Yang TIDAK akan diperbaiki: model tetap tidak mampu mengenali sampah berukuran 16 piksel, karena data positifnya dari TACO berupa foto close-up, bukan citra CCTV berjarak 20–30 m.</a:t>
            </a:r>
          </a:p>
        </p:txBody>
      </p:sp>
      <p:sp>
        <p:nvSpPr>
          <p:cNvPr id="18" name="Rounded Rectangle 17"/>
          <p:cNvSpPr/>
          <p:nvPr/>
        </p:nvSpPr>
        <p:spPr>
          <a:xfrm>
            <a:off x="6242151" y="2798064"/>
            <a:ext cx="5291175" cy="1581912"/>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2151" y="2798064"/>
            <a:ext cx="54864" cy="1581912"/>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79895" y="2953512"/>
            <a:ext cx="4833975"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Metode pengukuran yang adil</a:t>
            </a:r>
          </a:p>
        </p:txBody>
      </p:sp>
      <p:sp>
        <p:nvSpPr>
          <p:cNvPr id="21" name="TextBox 20"/>
          <p:cNvSpPr txBox="1"/>
          <p:nvPr/>
        </p:nvSpPr>
        <p:spPr>
          <a:xfrm>
            <a:off x="6479895" y="3218688"/>
            <a:ext cx="4833975" cy="1033271"/>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Baseline sudah tersimpan lengkap dengan bukti visual kotak yang menempel pada jok motor parkir. Setelah pelatihan, inferensi dijalankan ulang pada frame yang persis sama, lalu dinilai dua hal: (1) apakah kotak pada jok motor hilang, dan (2) apakah deteksi yang sebelumnya benar tetap bertahan. Kriteria kedua sama pentingnya — model yang tidak mendeteksi apa pun secara teknis memiliki nol false positive.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86968" y="1874519"/>
            <a:ext cx="6035040" cy="640080"/>
          </a:xfrm>
          <a:prstGeom prst="rect">
            <a:avLst/>
          </a:prstGeom>
          <a:noFill/>
        </p:spPr>
        <p:txBody>
          <a:bodyPr wrap="square" lIns="0" rIns="0" tIns="0" bIns="0" anchor="t">
            <a:spAutoFit/>
          </a:bodyPr>
          <a:lstStyle/>
          <a:p>
            <a:pPr algn="l">
              <a:lnSpc>
                <a:spcPct val="112000"/>
              </a:lnSpc>
              <a:spcBef>
                <a:spcPts val="0"/>
              </a:spcBef>
              <a:spcAft>
                <a:spcPts val="0"/>
              </a:spcAft>
            </a:pPr>
            <a:r>
              <a:rPr sz="1100" b="1" i="0" cap="all" spc="80">
                <a:solidFill>
                  <a:srgbClr val="35A46F"/>
                </a:solidFill>
                <a:latin typeface="Trebuchet MS"/>
              </a:rPr>
              <a:t>BAGIAN 05</a:t>
            </a:r>
          </a:p>
        </p:txBody>
      </p:sp>
      <p:sp>
        <p:nvSpPr>
          <p:cNvPr id="5" name="TextBox 4"/>
          <p:cNvSpPr txBox="1"/>
          <p:nvPr/>
        </p:nvSpPr>
        <p:spPr>
          <a:xfrm>
            <a:off x="886968" y="2212848"/>
            <a:ext cx="7498079" cy="109728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Trebuchet MS"/>
              </a:rPr>
              <a:t>Kendala &amp;
Keterbatasan</a:t>
            </a:r>
          </a:p>
        </p:txBody>
      </p:sp>
      <p:sp>
        <p:nvSpPr>
          <p:cNvPr id="6" name="TextBox 5"/>
          <p:cNvSpPr txBox="1"/>
          <p:nvPr/>
        </p:nvSpPr>
        <p:spPr>
          <a:xfrm>
            <a:off x="886968" y="3520440"/>
            <a:ext cx="6400800" cy="914400"/>
          </a:xfrm>
          <a:prstGeom prst="rect">
            <a:avLst/>
          </a:prstGeom>
          <a:noFill/>
        </p:spPr>
        <p:txBody>
          <a:bodyPr wrap="square" lIns="0" rIns="0" tIns="0" bIns="0" anchor="t">
            <a:spAutoFit/>
          </a:bodyPr>
          <a:lstStyle/>
          <a:p>
            <a:pPr algn="l">
              <a:lnSpc>
                <a:spcPct val="135000"/>
              </a:lnSpc>
              <a:spcBef>
                <a:spcPts val="0"/>
              </a:spcBef>
              <a:spcAft>
                <a:spcPts val="0"/>
              </a:spcAft>
            </a:pPr>
            <a:r>
              <a:rPr sz="1300" b="0" i="0">
                <a:solidFill>
                  <a:srgbClr val="E8F3EC"/>
                </a:solidFill>
                <a:latin typeface="Arial"/>
              </a:rPr>
              <a:t>Bagian ini kami sertakan apa adanya. Sistem yang diketahui batasnya lebih dapat dipercaya daripada sistem yang diklaim sempurna.</a:t>
            </a:r>
          </a:p>
        </p:txBody>
      </p:sp>
      <p:sp>
        <p:nvSpPr>
          <p:cNvPr id="7" name="Rounded Rectangle 6"/>
          <p:cNvSpPr/>
          <p:nvPr/>
        </p:nvSpPr>
        <p:spPr>
          <a:xfrm>
            <a:off x="7680960" y="2340864"/>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73568" y="2231136"/>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Tidak ada akses RTSP — arsitektur berubah</a:t>
            </a:r>
          </a:p>
        </p:txBody>
      </p:sp>
      <p:sp>
        <p:nvSpPr>
          <p:cNvPr id="9" name="Rounded Rectangle 8"/>
          <p:cNvSpPr/>
          <p:nvPr/>
        </p:nvSpPr>
        <p:spPr>
          <a:xfrm>
            <a:off x="7680960" y="2907792"/>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73568" y="2798064"/>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85 dari 377 kamera terdaftar sudah mati</a:t>
            </a:r>
          </a:p>
        </p:txBody>
      </p:sp>
      <p:sp>
        <p:nvSpPr>
          <p:cNvPr id="11" name="Rounded Rectangle 10"/>
          <p:cNvSpPr/>
          <p:nvPr/>
        </p:nvSpPr>
        <p:spPr>
          <a:xfrm>
            <a:off x="7680960" y="3474720"/>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73568" y="3364992"/>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Median kotak deteksi hanya 16 piksel</a:t>
            </a:r>
          </a:p>
        </p:txBody>
      </p:sp>
      <p:sp>
        <p:nvSpPr>
          <p:cNvPr id="13" name="Rounded Rectangle 12"/>
          <p:cNvSpPr/>
          <p:nvPr/>
        </p:nvSpPr>
        <p:spPr>
          <a:xfrm>
            <a:off x="7680960" y="4041647"/>
            <a:ext cx="128016" cy="128016"/>
          </a:xfrm>
          <a:prstGeom prst="roundRect">
            <a:avLst>
              <a:gd name="adj" fmla="val 50000"/>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973568" y="3931919"/>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FFFFFF"/>
                </a:solidFill>
                <a:latin typeface="Arial"/>
              </a:rPr>
              <a:t>Pelabelan manual tidak dapat dipercepat</a:t>
            </a:r>
          </a:p>
        </p:txBody>
      </p:sp>
      <p:sp>
        <p:nvSpPr>
          <p:cNvPr id="15" name="TextBox 14"/>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35A46F"/>
                </a:solidFill>
                <a:latin typeface="Trebuchet MS"/>
              </a:rPr>
              <a:t>NOVIRA · Detect Today, Keep Tomorrow</a:t>
            </a:r>
          </a:p>
        </p:txBody>
      </p:sp>
      <p:sp>
        <p:nvSpPr>
          <p:cNvPr id="16" name="TextBox 15"/>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Kendala</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Tujuh kendala lapangan yang membentuk arsitektur</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Enam di antaranya di halaman ini; kendala ketujuh — waktu pelabelan manual — dibahas di halaman berikutnya.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30 / 37</a:t>
            </a:r>
          </a:p>
        </p:txBody>
      </p:sp>
      <p:sp>
        <p:nvSpPr>
          <p:cNvPr id="9" name="Rounded Rectangle 8"/>
          <p:cNvSpPr/>
          <p:nvPr/>
        </p:nvSpPr>
        <p:spPr>
          <a:xfrm>
            <a:off x="658368" y="1847088"/>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50292" cy="2103120"/>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9611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Tidak tersedia akses RTSP</a:t>
            </a:r>
          </a:p>
        </p:txBody>
      </p:sp>
      <p:sp>
        <p:nvSpPr>
          <p:cNvPr id="12" name="TextBox 11"/>
          <p:cNvSpPr txBox="1"/>
          <p:nvPr/>
        </p:nvSpPr>
        <p:spPr>
          <a:xfrm>
            <a:off x="896112" y="2331720"/>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Rencana awal menarik RTSP dari NVR pemda. Akses tidak tersedia bagi pihak luar; yang publik adalah HLS hasil transcode. Konsekuensinya berantai — object tracking antar-frame kehilangan dasarnya, sehingga metode persistensi dirancang ulang berbasis IoU antar-snapshot.</a:t>
            </a:r>
          </a:p>
        </p:txBody>
      </p:sp>
      <p:sp>
        <p:nvSpPr>
          <p:cNvPr id="13" name="Rounded Rectangle 12"/>
          <p:cNvSpPr/>
          <p:nvPr/>
        </p:nvSpPr>
        <p:spPr>
          <a:xfrm>
            <a:off x="4368698" y="1847088"/>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68698" y="1847088"/>
            <a:ext cx="50292" cy="210312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0644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Mayoritas kamera terdaftar sudah mati</a:t>
            </a:r>
          </a:p>
        </p:txBody>
      </p:sp>
      <p:sp>
        <p:nvSpPr>
          <p:cNvPr id="16" name="TextBox 15"/>
          <p:cNvSpPr txBox="1"/>
          <p:nvPr/>
        </p:nvSpPr>
        <p:spPr>
          <a:xfrm>
            <a:off x="4606442" y="2386584"/>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Dari 377 kamera pada daftar resmi, 85 menjawab HTTP 404 dan 2 berada di luar Kota Bandung. Fakta ini baru diketahui setelah menguji setiap stream satu per satu — tidak ada penanda status apa pun pada data sumbernya.</a:t>
            </a:r>
          </a:p>
        </p:txBody>
      </p:sp>
      <p:sp>
        <p:nvSpPr>
          <p:cNvPr id="17" name="Rounded Rectangle 16"/>
          <p:cNvSpPr/>
          <p:nvPr/>
        </p:nvSpPr>
        <p:spPr>
          <a:xfrm>
            <a:off x="8079028" y="1847088"/>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79028" y="1847088"/>
            <a:ext cx="50292" cy="2103120"/>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16772" y="2020824"/>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Geometri kamera lampu merah adalah yang terburuk</a:t>
            </a:r>
          </a:p>
        </p:txBody>
      </p:sp>
      <p:sp>
        <p:nvSpPr>
          <p:cNvPr id="20" name="TextBox 19"/>
          <p:cNvSpPr txBox="1"/>
          <p:nvPr/>
        </p:nvSpPr>
        <p:spPr>
          <a:xfrm>
            <a:off x="8316772" y="2386584"/>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Setelah meninjau satu frame dari 283 kamera aktif: perempatan lampu merah — mayoritas jaringan ini — adalah pilihan terburuk. Dipasang tinggi, sudut lebar, membidik badan jalan alih-alih tepinya. Median kotak deteksi hanya 16 piksel.</a:t>
            </a:r>
          </a:p>
        </p:txBody>
      </p:sp>
      <p:sp>
        <p:nvSpPr>
          <p:cNvPr id="21" name="Rounded Rectangle 20"/>
          <p:cNvSpPr/>
          <p:nvPr/>
        </p:nvSpPr>
        <p:spPr>
          <a:xfrm>
            <a:off x="658368" y="4142231"/>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4142231"/>
            <a:ext cx="50292" cy="210312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96112" y="43159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Metadata lokasi tidak tersedia</a:t>
            </a:r>
          </a:p>
        </p:txBody>
      </p:sp>
      <p:sp>
        <p:nvSpPr>
          <p:cNvPr id="24" name="TextBox 23"/>
          <p:cNvSpPr txBox="1"/>
          <p:nvPr/>
        </p:nvSpPr>
        <p:spPr>
          <a:xfrm>
            <a:off x="896112" y="4681727"/>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Data sumber tidak menyertakan kecamatan maupun kelurahan. Keduanya diturunkan sendiri lewat reverse geocoding koordinat kamera ke batas administratif OpenStreetMap.</a:t>
            </a:r>
          </a:p>
        </p:txBody>
      </p:sp>
      <p:sp>
        <p:nvSpPr>
          <p:cNvPr id="25" name="Rounded Rectangle 24"/>
          <p:cNvSpPr/>
          <p:nvPr/>
        </p:nvSpPr>
        <p:spPr>
          <a:xfrm>
            <a:off x="4368698" y="4142231"/>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368698" y="4142231"/>
            <a:ext cx="50292" cy="210312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606442" y="43159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Cakupan wilayah tidak merata</a:t>
            </a:r>
          </a:p>
        </p:txBody>
      </p:sp>
      <p:sp>
        <p:nvSpPr>
          <p:cNvPr id="28" name="TextBox 27"/>
          <p:cNvSpPr txBox="1"/>
          <p:nvPr/>
        </p:nvSpPr>
        <p:spPr>
          <a:xfrm>
            <a:off x="4606442" y="4681727"/>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Tiga dari 30 kecamatan Kota Bandung tidak memiliki satu pun kamera terverifikasi aktif, sehingga wilayah tersebut tidak dapat dinilai — dan sengaja tidak diberi skor, bukan diberi skor baik.</a:t>
            </a:r>
          </a:p>
        </p:txBody>
      </p:sp>
      <p:sp>
        <p:nvSpPr>
          <p:cNvPr id="29" name="Rounded Rectangle 28"/>
          <p:cNvSpPr/>
          <p:nvPr/>
        </p:nvSpPr>
        <p:spPr>
          <a:xfrm>
            <a:off x="8079028" y="4142231"/>
            <a:ext cx="3454298" cy="210312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079028" y="4142231"/>
            <a:ext cx="50292" cy="2103120"/>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16772" y="4315968"/>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150" b="1" i="0">
                <a:solidFill>
                  <a:srgbClr val="0E2419"/>
                </a:solidFill>
                <a:latin typeface="Trebuchet MS"/>
              </a:rPr>
              <a:t>Pelabelan otomatis buta akan merusak dataset</a:t>
            </a:r>
          </a:p>
        </p:txBody>
      </p:sp>
      <p:sp>
        <p:nvSpPr>
          <p:cNvPr id="32" name="TextBox 31"/>
          <p:cNvSpPr txBox="1"/>
          <p:nvPr/>
        </p:nvSpPr>
        <p:spPr>
          <a:xfrm>
            <a:off x="8316772" y="4681727"/>
            <a:ext cx="2997098" cy="1554479"/>
          </a:xfrm>
          <a:prstGeom prst="rect">
            <a:avLst/>
          </a:prstGeom>
          <a:noFill/>
        </p:spPr>
        <p:txBody>
          <a:bodyPr wrap="square" lIns="0" rIns="0" tIns="0" bIns="0" anchor="t">
            <a:spAutoFit/>
          </a:bodyPr>
          <a:lstStyle/>
          <a:p>
            <a:pPr algn="l">
              <a:lnSpc>
                <a:spcPct val="130000"/>
              </a:lnSpc>
              <a:spcBef>
                <a:spcPts val="0"/>
              </a:spcBef>
              <a:spcAft>
                <a:spcPts val="0"/>
              </a:spcAft>
            </a:pPr>
            <a:r>
              <a:rPr sz="950" b="0" i="0">
                <a:solidFill>
                  <a:srgbClr val="5F7568"/>
                </a:solidFill>
                <a:latin typeface="Arial"/>
              </a:rPr>
              <a:t>Model cctv sebagai teacher diuji pada 9 kamera titik banjir (ambang 0,25): 35 deteksi halusinasi pada dedaunan, 44 kotak mendarat pada badan truk dan aspal, dan justru nol pada saluran air sungguhan.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Kendala</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Hanya 14 dari 283 kamera layak jadi sumber data pelatihan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31 / 37</a:t>
            </a:r>
          </a:p>
        </p:txBody>
      </p:sp>
      <p:graphicFrame>
        <p:nvGraphicFramePr>
          <p:cNvPr id="8" name="Table 7"/>
          <p:cNvGraphicFramePr>
            <a:graphicFrameLocks noGrp="1"/>
          </p:cNvGraphicFramePr>
          <p:nvPr/>
        </p:nvGraphicFramePr>
        <p:xfrm>
          <a:off x="658368" y="1389888"/>
          <a:ext cx="5002480" cy="1737360"/>
        </p:xfrm>
        <a:graphic>
          <a:graphicData uri="http://schemas.openxmlformats.org/drawingml/2006/table">
            <a:tbl>
              <a:tblPr firstRow="1" bandRow="1">
                <a:tableStyleId>{5C22544A-7EE6-4342-B048-85BDC9FD1C3A}</a:tableStyleId>
              </a:tblPr>
              <a:tblGrid>
                <a:gridCol w="1500744"/>
                <a:gridCol w="600297"/>
                <a:gridCol w="2901439"/>
              </a:tblGrid>
              <a:tr h="310896">
                <a:tc>
                  <a:txBody>
                    <a:bodyPr wrap="square"/>
                    <a:lstStyle/>
                    <a:p>
                      <a:pPr algn="l">
                        <a:lnSpc>
                          <a:spcPct val="112000"/>
                        </a:lnSpc>
                        <a:spcBef>
                          <a:spcPts val="0"/>
                        </a:spcBef>
                        <a:spcAft>
                          <a:spcPts val="0"/>
                        </a:spcAft>
                      </a:pPr>
                      <a:r>
                        <a:rPr sz="950" b="1" i="0" cap="all" spc="80">
                          <a:solidFill>
                            <a:srgbClr val="FFFFFF"/>
                          </a:solidFill>
                          <a:latin typeface="Trebuchet MS"/>
                        </a:rPr>
                        <a:t>Kelompok</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Jumlah</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Alasan</a:t>
                      </a:r>
                    </a:p>
                  </a:txBody>
                  <a:tcPr marL="82296" marR="82296" marT="36576" marB="36576" anchor="ctr">
                    <a:solidFill>
                      <a:srgbClr val="0D3B26"/>
                    </a:solidFill>
                  </a:tcPr>
                </a:tc>
              </a:tr>
              <a:tr h="475488">
                <a:tc>
                  <a:txBody>
                    <a:bodyPr wrap="square"/>
                    <a:lstStyle/>
                    <a:p>
                      <a:pPr algn="l">
                        <a:lnSpc>
                          <a:spcPct val="110000"/>
                        </a:lnSpc>
                        <a:spcBef>
                          <a:spcPts val="0"/>
                        </a:spcBef>
                        <a:spcAft>
                          <a:spcPts val="0"/>
                        </a:spcAft>
                      </a:pPr>
                      <a:r>
                        <a:rPr sz="950" b="0" i="0">
                          <a:solidFill>
                            <a:srgbClr val="0E2419"/>
                          </a:solidFill>
                          <a:latin typeface="Arial"/>
                        </a:rPr>
                        <a:t>Kamera pasar</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7</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Serakan di tepi jalan terlihat nyata, pandangan lebih dekat, objek lebih besar</a:t>
                      </a:r>
                    </a:p>
                  </a:txBody>
                  <a:tcPr marL="82296" marR="82296" marT="27432" marB="27432" anchor="ctr">
                    <a:solidFill>
                      <a:srgbClr val="FFFFFF"/>
                    </a:solidFill>
                  </a:tcPr>
                </a:tc>
              </a:tr>
              <a:tr h="475488">
                <a:tc>
                  <a:txBody>
                    <a:bodyPr wrap="square"/>
                    <a:lstStyle/>
                    <a:p>
                      <a:pPr algn="l">
                        <a:lnSpc>
                          <a:spcPct val="110000"/>
                        </a:lnSpc>
                        <a:spcBef>
                          <a:spcPts val="0"/>
                        </a:spcBef>
                        <a:spcAft>
                          <a:spcPts val="0"/>
                        </a:spcAft>
                      </a:pPr>
                      <a:r>
                        <a:rPr sz="950" b="0" i="0">
                          <a:solidFill>
                            <a:srgbClr val="0E2419"/>
                          </a:solidFill>
                          <a:latin typeface="Arial"/>
                        </a:rPr>
                        <a:t>Titik banjir / drainase</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4</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50" b="0" i="0">
                          <a:solidFill>
                            <a:srgbClr val="0E2419"/>
                          </a:solidFill>
                          <a:latin typeface="Arial"/>
                        </a:rPr>
                        <a:t>Saluran air adalah zona akumulasi; beberapa kamera membidik salurannya langsung</a:t>
                      </a:r>
                    </a:p>
                  </a:txBody>
                  <a:tcPr marL="82296" marR="82296" marT="27432" marB="27432" anchor="ctr">
                    <a:solidFill>
                      <a:srgbClr val="E8F3EC"/>
                    </a:solidFill>
                  </a:tcPr>
                </a:tc>
              </a:tr>
              <a:tr h="475488">
                <a:tc>
                  <a:txBody>
                    <a:bodyPr wrap="square"/>
                    <a:lstStyle/>
                    <a:p>
                      <a:pPr algn="l">
                        <a:lnSpc>
                          <a:spcPct val="110000"/>
                        </a:lnSpc>
                        <a:spcBef>
                          <a:spcPts val="0"/>
                        </a:spcBef>
                        <a:spcAft>
                          <a:spcPts val="0"/>
                        </a:spcAft>
                      </a:pPr>
                      <a:r>
                        <a:rPr sz="950" b="0" i="0">
                          <a:solidFill>
                            <a:srgbClr val="0E2419"/>
                          </a:solidFill>
                          <a:latin typeface="Arial"/>
                        </a:rPr>
                        <a:t>Resolusi tinggi berpandangan dekat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3</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50" b="0" i="0">
                          <a:solidFill>
                            <a:srgbClr val="0E2419"/>
                          </a:solidFill>
                          <a:latin typeface="Arial"/>
                        </a:rPr>
                        <a:t>1920×1080 dengan tepi jalan yang ramai</a:t>
                      </a:r>
                    </a:p>
                  </a:txBody>
                  <a:tcPr marL="82296" marR="82296" marT="27432" marB="27432" anchor="ctr">
                    <a:solidFill>
                      <a:srgbClr val="FFFFFF"/>
                    </a:solidFill>
                  </a:tcPr>
                </a:tc>
              </a:tr>
            </a:tbl>
          </a:graphicData>
        </a:graphic>
      </p:graphicFrame>
      <p:sp>
        <p:nvSpPr>
          <p:cNvPr id="9" name="TextBox 8"/>
          <p:cNvSpPr txBox="1"/>
          <p:nvPr/>
        </p:nvSpPr>
        <p:spPr>
          <a:xfrm>
            <a:off x="658368" y="3172968"/>
            <a:ext cx="5002481" cy="457200"/>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5F7568"/>
                </a:solidFill>
                <a:latin typeface="Arial"/>
              </a:rPr>
              <a:t>Resolusi tinggi semata bukan jaminan kelayakan: dari 14 kamera 1080p, satu berkabut putih total dan satu silau — keduanya dikeluarkan dari daftar sumber data pelatihan.</a:t>
            </a:r>
          </a:p>
        </p:txBody>
      </p:sp>
      <p:sp>
        <p:nvSpPr>
          <p:cNvPr id="10" name="Rounded Rectangle 9"/>
          <p:cNvSpPr/>
          <p:nvPr/>
        </p:nvSpPr>
        <p:spPr>
          <a:xfrm>
            <a:off x="5971745" y="1389888"/>
            <a:ext cx="5561581" cy="1243584"/>
          </a:xfrm>
          <a:prstGeom prst="roundRect">
            <a:avLst>
              <a:gd name="adj" fmla="val 5000"/>
            </a:avLst>
          </a:prstGeom>
          <a:solidFill>
            <a:srgbClr val="E6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971745" y="1389888"/>
            <a:ext cx="54864" cy="1243584"/>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209489" y="1545336"/>
            <a:ext cx="51043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2F6E96"/>
                </a:solidFill>
                <a:latin typeface="Trebuchet MS"/>
              </a:rPr>
              <a:t>Aturan pelabelan yang kami tetapkan setelah Kendala 6</a:t>
            </a:r>
          </a:p>
        </p:txBody>
      </p:sp>
      <p:sp>
        <p:nvSpPr>
          <p:cNvPr id="13" name="TextBox 12"/>
          <p:cNvSpPr txBox="1"/>
          <p:nvPr/>
        </p:nvSpPr>
        <p:spPr>
          <a:xfrm>
            <a:off x="6209489" y="1810512"/>
            <a:ext cx="5104381"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Kamera pasar dan jalan memakai teacher street dengan ambang rendah, dan hasilnya diperlakukan sebagai usulan yang WAJIB dikoreksi manual. Hanya kamera saluran air yang boleh memakai model cctv, itu pun wajib dibatasi ROI ke badan salurannya.</a:t>
            </a:r>
          </a:p>
        </p:txBody>
      </p:sp>
      <p:sp>
        <p:nvSpPr>
          <p:cNvPr id="14" name="Rounded Rectangle 13"/>
          <p:cNvSpPr/>
          <p:nvPr/>
        </p:nvSpPr>
        <p:spPr>
          <a:xfrm>
            <a:off x="5971745" y="2798064"/>
            <a:ext cx="5561581" cy="1243584"/>
          </a:xfrm>
          <a:prstGeom prst="roundRect">
            <a:avLst>
              <a:gd name="adj" fmla="val 5000"/>
            </a:avLst>
          </a:prstGeom>
          <a:solidFill>
            <a:srgbClr val="FBF2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971745" y="2798064"/>
            <a:ext cx="54864" cy="1243584"/>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09489" y="2953512"/>
            <a:ext cx="5104381"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C08A1A"/>
                </a:solidFill>
                <a:latin typeface="Trebuchet MS"/>
              </a:rPr>
              <a:t>Kendala 7 — waktu pelabelan manual</a:t>
            </a:r>
          </a:p>
        </p:txBody>
      </p:sp>
      <p:sp>
        <p:nvSpPr>
          <p:cNvPr id="17" name="TextBox 16"/>
          <p:cNvSpPr txBox="1"/>
          <p:nvPr/>
        </p:nvSpPr>
        <p:spPr>
          <a:xfrm>
            <a:off x="6209489" y="3218688"/>
            <a:ext cx="5104381" cy="694943"/>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Satu-satunya jalan menaikkan recall adalah data positif berlabel dari kamera target itu sendiri, dan itu menuntut pelabelan manual. Target realistis 300–500 frame berlabel. Pekerjaan ini tidak dapat dipercepat oleh otomatisasi mana pun tanpa merusak kualitas datasetnya — sebagaimana dibuktikan Kendala 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Kendala</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Edge case: yang berhasil, yang gagal, dan yang kami putuskan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Termasuk percobaan yang gagal — karena kegagalan yang terdokumentasi menghemat waktu iterasi berikutnya.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32 / 37</a:t>
            </a:r>
          </a:p>
        </p:txBody>
      </p:sp>
      <p:graphicFrame>
        <p:nvGraphicFramePr>
          <p:cNvPr id="9" name="Table 8"/>
          <p:cNvGraphicFramePr>
            <a:graphicFrameLocks noGrp="1"/>
          </p:cNvGraphicFramePr>
          <p:nvPr/>
        </p:nvGraphicFramePr>
        <p:xfrm>
          <a:off x="658368" y="1847088"/>
          <a:ext cx="10874958" cy="4114800"/>
        </p:xfrm>
        <a:graphic>
          <a:graphicData uri="http://schemas.openxmlformats.org/drawingml/2006/table">
            <a:tbl>
              <a:tblPr firstRow="1" bandRow="1">
                <a:tableStyleId>{5C22544A-7EE6-4342-B048-85BDC9FD1C3A}</a:tableStyleId>
              </a:tblPr>
              <a:tblGrid>
                <a:gridCol w="761247"/>
                <a:gridCol w="2283741"/>
                <a:gridCol w="6633725"/>
                <a:gridCol w="1196245"/>
              </a:tblGrid>
              <a:tr h="274320">
                <a:tc>
                  <a:txBody>
                    <a:bodyPr wrap="square"/>
                    <a:lstStyle/>
                    <a:p>
                      <a:pPr algn="l">
                        <a:lnSpc>
                          <a:spcPct val="112000"/>
                        </a:lnSpc>
                        <a:spcBef>
                          <a:spcPts val="0"/>
                        </a:spcBef>
                        <a:spcAft>
                          <a:spcPts val="0"/>
                        </a:spcAft>
                      </a:pPr>
                      <a:r>
                        <a:rPr sz="900" b="1" i="0" cap="all" spc="80">
                          <a:solidFill>
                            <a:srgbClr val="FFFFFF"/>
                          </a:solidFill>
                          <a:latin typeface="Trebuchet MS"/>
                        </a:rPr>
                        <a:t>Kode</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00" b="1" i="0" cap="all" spc="80">
                          <a:solidFill>
                            <a:srgbClr val="FFFFFF"/>
                          </a:solidFill>
                          <a:latin typeface="Trebuchet MS"/>
                        </a:rPr>
                        <a:t>Skenario</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00" b="1" i="0" cap="all" spc="80">
                          <a:solidFill>
                            <a:srgbClr val="FFFFFF"/>
                          </a:solidFill>
                          <a:latin typeface="Trebuchet MS"/>
                        </a:rPr>
                        <a:t>Hasil aktual</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00" b="1" i="0" cap="all" spc="80">
                          <a:solidFill>
                            <a:srgbClr val="FFFFFF"/>
                          </a:solidFill>
                          <a:latin typeface="Trebuchet MS"/>
                        </a:rPr>
                        <a:t>Status</a:t>
                      </a:r>
                    </a:p>
                  </a:txBody>
                  <a:tcPr marL="82296" marR="82296" marT="36576" marB="36576" anchor="ctr">
                    <a:solidFill>
                      <a:srgbClr val="0D3B26"/>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EC-01</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Kendaraan di dalam frame</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57% false positive adalah kendaraan dan pengendara. Ditangani dua lapis: penyaringan tumpang tindih saat runtime + negatif kendaraan pada dataset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1" i="0">
                          <a:solidFill>
                            <a:srgbClr val="C08A1A"/>
                          </a:solidFill>
                          <a:latin typeface="Arial"/>
                        </a:rPr>
                        <a:t>Sebagian</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EC-02</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Objek kecil (jauh dari kamera)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Median kotak deteksi pada kamera perempatan hanya 16 piksel — di bawah kemampuan pemulihan detektor mana pun</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1" i="0">
                          <a:solidFill>
                            <a:srgbClr val="B93A2B"/>
                          </a:solidFill>
                          <a:latin typeface="Arial"/>
                        </a:rPr>
                        <a:t>Belum</a:t>
                      </a:r>
                    </a:p>
                  </a:txBody>
                  <a:tcPr marL="82296" marR="82296" marT="27432" marB="27432" anchor="ctr">
                    <a:solidFill>
                      <a:srgbClr val="E8F3EC"/>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EC-03</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Resolusi stream rendah</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Pada 640×480, koreksi ukuran ubin menaikkan deteksi dari 9 menjadi 22</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1" i="0">
                          <a:solidFill>
                            <a:srgbClr val="1B7A50"/>
                          </a:solidFill>
                          <a:latin typeface="Arial"/>
                        </a:rPr>
                        <a:t>Teratasi</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EC-04</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Frame utuh vs sliced</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Naik dari 3 menjadi 13 deteksi pada frame 3958×2184 dengan bobot dan ambang identik</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1" i="0">
                          <a:solidFill>
                            <a:srgbClr val="1B7A50"/>
                          </a:solidFill>
                          <a:latin typeface="Arial"/>
                        </a:rPr>
                        <a:t>Teratasi</a:t>
                      </a:r>
                    </a:p>
                  </a:txBody>
                  <a:tcPr marL="82296" marR="82296" marT="27432" marB="27432" anchor="ctr">
                    <a:solidFill>
                      <a:srgbClr val="E8F3EC"/>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EC-06</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Watermark dan teks overlay</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Glyph berkontras tinggi terbaca sebagai sampah. Penutupan area overlay menaikkan pemisahan dari 37 ke 44 poin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1" i="0">
                          <a:solidFill>
                            <a:srgbClr val="1B7A50"/>
                          </a:solidFill>
                          <a:latin typeface="Arial"/>
                        </a:rPr>
                        <a:t>Teratasi</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EC-07</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Sampah menutup penuh permukaan</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Seluruh model detektor gagal. Dijawab dengan pendekatan tutupan area: 56,6% vs 13,0%</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1" i="0">
                          <a:solidFill>
                            <a:srgbClr val="1B7A50"/>
                          </a:solidFill>
                          <a:latin typeface="Arial"/>
                        </a:rPr>
                        <a:t>Metode lain</a:t>
                      </a:r>
                    </a:p>
                  </a:txBody>
                  <a:tcPr marL="82296" marR="82296" marT="27432" marB="27432" anchor="ctr">
                    <a:solidFill>
                      <a:srgbClr val="E8F3EC"/>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EC-08</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Median temporal jendela 60 detik</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GAGAL — deteksi justru naik dari 8 ke 12. Kendaraan berhenti di lampu merah 30–60 detik ikut terbaca sebagai latar</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1" i="0">
                          <a:solidFill>
                            <a:srgbClr val="B93A2B"/>
                          </a:solidFill>
                          <a:latin typeface="Arial"/>
                        </a:rPr>
                        <a:t>Gagal</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860" b="0" i="0">
                          <a:solidFill>
                            <a:srgbClr val="0E2419"/>
                          </a:solidFill>
                          <a:latin typeface="Arial"/>
                        </a:rPr>
                        <a:t>EC-09</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Median temporal jendela 10 menit</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Berhasil — badan jalan bersih, marka penyeberangan terlihat kembali, false positive pengendara motor 1 → 0</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1" i="0">
                          <a:solidFill>
                            <a:srgbClr val="1B7A50"/>
                          </a:solidFill>
                          <a:latin typeface="Arial"/>
                        </a:rPr>
                        <a:t>Teratasi</a:t>
                      </a:r>
                    </a:p>
                  </a:txBody>
                  <a:tcPr marL="82296" marR="82296" marT="27432" marB="27432" anchor="ctr">
                    <a:solidFill>
                      <a:srgbClr val="E8F3EC"/>
                    </a:solidFill>
                  </a:tcPr>
                </a:tc>
              </a:tr>
              <a:tr h="384048">
                <a:tc>
                  <a:txBody>
                    <a:bodyPr wrap="square"/>
                    <a:lstStyle/>
                    <a:p>
                      <a:pPr algn="l">
                        <a:lnSpc>
                          <a:spcPct val="110000"/>
                        </a:lnSpc>
                        <a:spcBef>
                          <a:spcPts val="0"/>
                        </a:spcBef>
                        <a:spcAft>
                          <a:spcPts val="0"/>
                        </a:spcAft>
                      </a:pPr>
                      <a:r>
                        <a:rPr sz="860" b="0" i="0">
                          <a:solidFill>
                            <a:srgbClr val="0E2419"/>
                          </a:solidFill>
                          <a:latin typeface="Arial"/>
                        </a:rPr>
                        <a:t>EC-11</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Incident tanpa koordinat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0" i="0">
                          <a:solidFill>
                            <a:srgbClr val="0E2419"/>
                          </a:solidFill>
                          <a:latin typeface="Arial"/>
                        </a:rPr>
                        <a:t>Sengaja TIDAK digambar di titik perkiraan — penanda di lokasi keliru lebih berbahaya daripada tidak ada penanda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860" b="1" i="0">
                          <a:solidFill>
                            <a:srgbClr val="2F6E96"/>
                          </a:solidFill>
                          <a:latin typeface="Arial"/>
                        </a:rPr>
                        <a:t>Desain</a:t>
                      </a:r>
                    </a:p>
                  </a:txBody>
                  <a:tcPr marL="82296" marR="82296" marT="27432" marB="27432" anchor="ctr">
                    <a:solidFill>
                      <a:srgbClr val="FFFFFF"/>
                    </a:solidFill>
                  </a:tcPr>
                </a:tc>
              </a:tr>
              <a:tr h="384048">
                <a:tc>
                  <a:txBody>
                    <a:bodyPr wrap="square"/>
                    <a:lstStyle/>
                    <a:p>
                      <a:pPr algn="l">
                        <a:lnSpc>
                          <a:spcPct val="110000"/>
                        </a:lnSpc>
                        <a:spcBef>
                          <a:spcPts val="0"/>
                        </a:spcBef>
                        <a:spcAft>
                          <a:spcPts val="0"/>
                        </a:spcAft>
                      </a:pPr>
                      <a:r>
                        <a:rPr sz="860" b="0" i="0">
                          <a:solidFill>
                            <a:srgbClr val="0E2419"/>
                          </a:solidFill>
                          <a:latin typeface="Arial"/>
                        </a:rPr>
                        <a:t>EC-12</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Arsip tren belum cukup panjang</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0" i="0">
                          <a:solidFill>
                            <a:srgbClr val="0E2419"/>
                          </a:solidFill>
                          <a:latin typeface="Arial"/>
                        </a:rPr>
                        <a:t>Sistem menyatakan data belum tersedia, bukan menampilkan angka tren nol</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860" b="1" i="0">
                          <a:solidFill>
                            <a:srgbClr val="2F6E96"/>
                          </a:solidFill>
                          <a:latin typeface="Arial"/>
                        </a:rPr>
                        <a:t>Desain</a:t>
                      </a:r>
                    </a:p>
                  </a:txBody>
                  <a:tcPr marL="82296" marR="82296" marT="27432" marB="27432" anchor="ctr">
                    <a:solidFill>
                      <a:srgbClr val="E8F3EC"/>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Kejujuran</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Keterbatasan sistem yang kami akui</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Dokumentasi keterbatasan ini disertakan karena sistem yang diketahui batasnya lebih dapat dipercaya daripada sistem yang diklaim sempurna.</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33 / 37</a:t>
            </a:r>
          </a:p>
        </p:txBody>
      </p:sp>
      <p:sp>
        <p:nvSpPr>
          <p:cNvPr id="9" name="Rounded Rectangle 8"/>
          <p:cNvSpPr/>
          <p:nvPr/>
        </p:nvSpPr>
        <p:spPr>
          <a:xfrm>
            <a:off x="658368" y="1847088"/>
            <a:ext cx="2554147" cy="3200400"/>
          </a:xfrm>
          <a:prstGeom prst="roundRect">
            <a:avLst>
              <a:gd name="adj" fmla="val 5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58368" y="1847088"/>
            <a:ext cx="2554147" cy="50292"/>
          </a:xfrm>
          <a:prstGeom prst="rect">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59536" y="2066543"/>
            <a:ext cx="2151811" cy="274320"/>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B93A2B"/>
                </a:solidFill>
                <a:latin typeface="Trebuchet MS"/>
              </a:rPr>
              <a:t>Keterbatasan model</a:t>
            </a:r>
          </a:p>
        </p:txBody>
      </p:sp>
      <p:sp>
        <p:nvSpPr>
          <p:cNvPr id="12" name="Rounded Rectangle 11"/>
          <p:cNvSpPr/>
          <p:nvPr/>
        </p:nvSpPr>
        <p:spPr>
          <a:xfrm>
            <a:off x="859536" y="2478024"/>
            <a:ext cx="73152" cy="73152"/>
          </a:xfrm>
          <a:prstGeom prst="roundRect">
            <a:avLst>
              <a:gd name="adj" fmla="val 50000"/>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42415" y="240487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Presisi rendah pada CCTV Bandung — 57% false positive, mayoritas kendaraan.</a:t>
            </a:r>
          </a:p>
        </p:txBody>
      </p:sp>
      <p:sp>
        <p:nvSpPr>
          <p:cNvPr id="14" name="Rounded Rectangle 13"/>
          <p:cNvSpPr/>
          <p:nvPr/>
        </p:nvSpPr>
        <p:spPr>
          <a:xfrm>
            <a:off x="859536" y="3022092"/>
            <a:ext cx="73152" cy="73152"/>
          </a:xfrm>
          <a:prstGeom prst="roundRect">
            <a:avLst>
              <a:gd name="adj" fmla="val 50000"/>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42415" y="2948940"/>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Tidak mampu mengenali objek kecil (median 16 piksel).</a:t>
            </a:r>
          </a:p>
        </p:txBody>
      </p:sp>
      <p:sp>
        <p:nvSpPr>
          <p:cNvPr id="16" name="Rounded Rectangle 15"/>
          <p:cNvSpPr/>
          <p:nvPr/>
        </p:nvSpPr>
        <p:spPr>
          <a:xfrm>
            <a:off x="859536" y="3433572"/>
            <a:ext cx="73152" cy="73152"/>
          </a:xfrm>
          <a:prstGeom prst="roundRect">
            <a:avLst>
              <a:gd name="adj" fmla="val 50000"/>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42415" y="3360420"/>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Kesenjangan domain: dilatih di Thailand/Vietnam/Sri Lanka + close-up TACO.</a:t>
            </a:r>
          </a:p>
        </p:txBody>
      </p:sp>
      <p:sp>
        <p:nvSpPr>
          <p:cNvPr id="18" name="Rounded Rectangle 17"/>
          <p:cNvSpPr/>
          <p:nvPr/>
        </p:nvSpPr>
        <p:spPr>
          <a:xfrm>
            <a:off x="859536" y="3977640"/>
            <a:ext cx="73152" cy="73152"/>
          </a:xfrm>
          <a:prstGeom prst="roundRect">
            <a:avLst>
              <a:gd name="adj" fmla="val 50000"/>
            </a:avLst>
          </a:prstGeom>
          <a:solidFill>
            <a:srgbClr val="B9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42415" y="3904488"/>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Object detection gagal pada sampah yang menyatu.</a:t>
            </a:r>
          </a:p>
        </p:txBody>
      </p:sp>
      <p:sp>
        <p:nvSpPr>
          <p:cNvPr id="20" name="Rounded Rectangle 19"/>
          <p:cNvSpPr/>
          <p:nvPr/>
        </p:nvSpPr>
        <p:spPr>
          <a:xfrm>
            <a:off x="3431971" y="1847088"/>
            <a:ext cx="2554147" cy="3200400"/>
          </a:xfrm>
          <a:prstGeom prst="roundRect">
            <a:avLst>
              <a:gd name="adj" fmla="val 5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431971" y="1847088"/>
            <a:ext cx="2554147" cy="50292"/>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33139" y="2066543"/>
            <a:ext cx="2151811" cy="274320"/>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C08A1A"/>
                </a:solidFill>
                <a:latin typeface="Trebuchet MS"/>
              </a:rPr>
              <a:t>Keterbatasan arsitektur</a:t>
            </a:r>
          </a:p>
        </p:txBody>
      </p:sp>
      <p:sp>
        <p:nvSpPr>
          <p:cNvPr id="23" name="Rounded Rectangle 22"/>
          <p:cNvSpPr/>
          <p:nvPr/>
        </p:nvSpPr>
        <p:spPr>
          <a:xfrm>
            <a:off x="3633139" y="2478024"/>
            <a:ext cx="73152" cy="73152"/>
          </a:xfrm>
          <a:prstGeom prst="roundRect">
            <a:avLst>
              <a:gd name="adj" fmla="val 50000"/>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816019" y="240487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Bukan pemantauan waktu nyata — dua siklus per hari.</a:t>
            </a:r>
          </a:p>
        </p:txBody>
      </p:sp>
      <p:sp>
        <p:nvSpPr>
          <p:cNvPr id="25" name="Rounded Rectangle 24"/>
          <p:cNvSpPr/>
          <p:nvPr/>
        </p:nvSpPr>
        <p:spPr>
          <a:xfrm>
            <a:off x="3633139" y="2889503"/>
            <a:ext cx="73152" cy="73152"/>
          </a:xfrm>
          <a:prstGeom prst="roundRect">
            <a:avLst>
              <a:gd name="adj" fmla="val 50000"/>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816019" y="281635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Tanpa event clip; bukti berupa citra diam.</a:t>
            </a:r>
          </a:p>
        </p:txBody>
      </p:sp>
      <p:sp>
        <p:nvSpPr>
          <p:cNvPr id="27" name="Rounded Rectangle 26"/>
          <p:cNvSpPr/>
          <p:nvPr/>
        </p:nvSpPr>
        <p:spPr>
          <a:xfrm>
            <a:off x="3633139" y="3300984"/>
            <a:ext cx="73152" cy="73152"/>
          </a:xfrm>
          <a:prstGeom prst="roundRect">
            <a:avLst>
              <a:gd name="adj" fmla="val 50000"/>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816019" y="322783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Tanpa notifikasi eksternal (WhatsApp/Telegram belum ada).</a:t>
            </a:r>
          </a:p>
        </p:txBody>
      </p:sp>
      <p:sp>
        <p:nvSpPr>
          <p:cNvPr id="29" name="Rounded Rectangle 28"/>
          <p:cNvSpPr/>
          <p:nvPr/>
        </p:nvSpPr>
        <p:spPr>
          <a:xfrm>
            <a:off x="3633139" y="3712464"/>
            <a:ext cx="73152" cy="73152"/>
          </a:xfrm>
          <a:prstGeom prst="roundRect">
            <a:avLst>
              <a:gd name="adj" fmla="val 50000"/>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816019" y="363931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Penjadwal berjalan dalam proses aplikasi; belum tahan multi-instance.</a:t>
            </a:r>
          </a:p>
        </p:txBody>
      </p:sp>
      <p:sp>
        <p:nvSpPr>
          <p:cNvPr id="31" name="Rounded Rectangle 30"/>
          <p:cNvSpPr/>
          <p:nvPr/>
        </p:nvSpPr>
        <p:spPr>
          <a:xfrm>
            <a:off x="6205575" y="1847088"/>
            <a:ext cx="2554147" cy="3200400"/>
          </a:xfrm>
          <a:prstGeom prst="roundRect">
            <a:avLst>
              <a:gd name="adj" fmla="val 5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05575" y="1847088"/>
            <a:ext cx="2554147" cy="50292"/>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06743" y="2066543"/>
            <a:ext cx="2151811" cy="274320"/>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2F6E96"/>
                </a:solidFill>
                <a:latin typeface="Trebuchet MS"/>
              </a:rPr>
              <a:t>Keterbatasan data</a:t>
            </a:r>
          </a:p>
        </p:txBody>
      </p:sp>
      <p:sp>
        <p:nvSpPr>
          <p:cNvPr id="34" name="Rounded Rectangle 33"/>
          <p:cNvSpPr/>
          <p:nvPr/>
        </p:nvSpPr>
        <p:spPr>
          <a:xfrm>
            <a:off x="6406743" y="2478024"/>
            <a:ext cx="73152" cy="73152"/>
          </a:xfrm>
          <a:prstGeom prst="roundRect">
            <a:avLst>
              <a:gd name="adj" fmla="val 50000"/>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589623" y="240487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Cakupan 27 dari 30 kecamatan.</a:t>
            </a:r>
          </a:p>
        </p:txBody>
      </p:sp>
      <p:sp>
        <p:nvSpPr>
          <p:cNvPr id="36" name="Rounded Rectangle 35"/>
          <p:cNvSpPr/>
          <p:nvPr/>
        </p:nvSpPr>
        <p:spPr>
          <a:xfrm>
            <a:off x="6406743" y="2756916"/>
            <a:ext cx="73152" cy="73152"/>
          </a:xfrm>
          <a:prstGeom prst="roundRect">
            <a:avLst>
              <a:gd name="adj" fmla="val 50000"/>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89623" y="2683764"/>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Bergantung pada portal ATCS pihak ketiga.</a:t>
            </a:r>
          </a:p>
        </p:txBody>
      </p:sp>
      <p:sp>
        <p:nvSpPr>
          <p:cNvPr id="38" name="Rounded Rectangle 37"/>
          <p:cNvSpPr/>
          <p:nvPr/>
        </p:nvSpPr>
        <p:spPr>
          <a:xfrm>
            <a:off x="6406743" y="3168396"/>
            <a:ext cx="73152" cy="73152"/>
          </a:xfrm>
          <a:prstGeom prst="roundRect">
            <a:avLst>
              <a:gd name="adj" fmla="val 50000"/>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9623" y="3095244"/>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Lokasi sensitif masih berbasis kata kunci, menunggu data guna lahan resmi.</a:t>
            </a:r>
          </a:p>
        </p:txBody>
      </p:sp>
      <p:sp>
        <p:nvSpPr>
          <p:cNvPr id="40" name="Rounded Rectangle 39"/>
          <p:cNvSpPr/>
          <p:nvPr/>
        </p:nvSpPr>
        <p:spPr>
          <a:xfrm>
            <a:off x="6406743" y="3712464"/>
            <a:ext cx="73152" cy="73152"/>
          </a:xfrm>
          <a:prstGeom prst="roundRect">
            <a:avLst>
              <a:gd name="adj" fmla="val 50000"/>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9623" y="363931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Skor kebersihan belum memperhitungkan luas area pantau (butuh homografi).</a:t>
            </a:r>
          </a:p>
        </p:txBody>
      </p:sp>
      <p:sp>
        <p:nvSpPr>
          <p:cNvPr id="42" name="Rounded Rectangle 41"/>
          <p:cNvSpPr/>
          <p:nvPr/>
        </p:nvSpPr>
        <p:spPr>
          <a:xfrm>
            <a:off x="8979179" y="1847088"/>
            <a:ext cx="2554147" cy="3200400"/>
          </a:xfrm>
          <a:prstGeom prst="roundRect">
            <a:avLst>
              <a:gd name="adj" fmla="val 5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8979179" y="1847088"/>
            <a:ext cx="2554147" cy="50292"/>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180347" y="2066543"/>
            <a:ext cx="2151811" cy="274320"/>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1B7A50"/>
                </a:solidFill>
                <a:latin typeface="Trebuchet MS"/>
              </a:rPr>
              <a:t>Keterbatasan lisensi</a:t>
            </a:r>
          </a:p>
        </p:txBody>
      </p:sp>
      <p:sp>
        <p:nvSpPr>
          <p:cNvPr id="45" name="Rounded Rectangle 44"/>
          <p:cNvSpPr/>
          <p:nvPr/>
        </p:nvSpPr>
        <p:spPr>
          <a:xfrm>
            <a:off x="9180347" y="2478024"/>
            <a:ext cx="73152" cy="73152"/>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363227" y="2404872"/>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Model urban memberi hasil jauh lebih baik pada tumpukan karung sampah (6 deteksi vs 0 oleh street pada frame uji yang sama).</a:t>
            </a:r>
          </a:p>
        </p:txBody>
      </p:sp>
      <p:sp>
        <p:nvSpPr>
          <p:cNvPr id="47" name="Rounded Rectangle 46"/>
          <p:cNvSpPr/>
          <p:nvPr/>
        </p:nvSpPr>
        <p:spPr>
          <a:xfrm>
            <a:off x="9180347" y="3154679"/>
            <a:ext cx="73152" cy="73152"/>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63227" y="3081528"/>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Namun checkpoint-nya butuh kelas dari pustaka berlisensi GPL-3.0, sedangkan kartu modelnya menyatakan Apache-2.0.</a:t>
            </a:r>
          </a:p>
        </p:txBody>
      </p:sp>
      <p:sp>
        <p:nvSpPr>
          <p:cNvPr id="49" name="Rounded Rectangle 48"/>
          <p:cNvSpPr/>
          <p:nvPr/>
        </p:nvSpPr>
        <p:spPr>
          <a:xfrm>
            <a:off x="9180347" y="3831336"/>
            <a:ext cx="73152" cy="73152"/>
          </a:xfrm>
          <a:prstGeom prst="roundRect">
            <a:avLst>
              <a:gd name="adj" fmla="val 50000"/>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363227" y="3758184"/>
            <a:ext cx="1950643" cy="6400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F7568"/>
                </a:solidFill>
                <a:latin typeface="Arial"/>
              </a:rPr>
              <a:t>Karena ketidaksesuaian itu, model tersebut sengaja tidak diaktifkan. Konsultasi hukum diperlukan sebelum didistribusikan.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Validasi</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Pengujian perangkat lunak</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Kualitas rekayasanya diuji terpisah dari kualitas modelnya — dan di sisi ini hasilnya bersih.</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34 / 37</a:t>
            </a:r>
          </a:p>
        </p:txBody>
      </p:sp>
      <p:sp>
        <p:nvSpPr>
          <p:cNvPr id="9" name="Rounded Rectangle 8"/>
          <p:cNvSpPr/>
          <p:nvPr/>
        </p:nvSpPr>
        <p:spPr>
          <a:xfrm>
            <a:off x="658368"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137 / 137</a:t>
            </a:r>
          </a:p>
        </p:txBody>
      </p:sp>
      <p:sp>
        <p:nvSpPr>
          <p:cNvPr id="11" name="TextBox 10"/>
          <p:cNvSpPr txBox="1"/>
          <p:nvPr/>
        </p:nvSpPr>
        <p:spPr>
          <a:xfrm>
            <a:off x="859536"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Unit test lulus</a:t>
            </a:r>
          </a:p>
        </p:txBody>
      </p:sp>
      <p:sp>
        <p:nvSpPr>
          <p:cNvPr id="12" name="TextBox 11"/>
          <p:cNvSpPr txBox="1"/>
          <p:nvPr/>
        </p:nvSpPr>
        <p:spPr>
          <a:xfrm>
            <a:off x="859536"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18 berkas uji, Vitest + PGlite</a:t>
            </a:r>
          </a:p>
        </p:txBody>
      </p:sp>
      <p:sp>
        <p:nvSpPr>
          <p:cNvPr id="13" name="Rounded Rectangle 12"/>
          <p:cNvSpPr/>
          <p:nvPr/>
        </p:nvSpPr>
        <p:spPr>
          <a:xfrm>
            <a:off x="3431971"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33139"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16</a:t>
            </a:r>
          </a:p>
        </p:txBody>
      </p:sp>
      <p:sp>
        <p:nvSpPr>
          <p:cNvPr id="15" name="TextBox 14"/>
          <p:cNvSpPr txBox="1"/>
          <p:nvPr/>
        </p:nvSpPr>
        <p:spPr>
          <a:xfrm>
            <a:off x="3633139"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Skenario blackbox</a:t>
            </a:r>
          </a:p>
        </p:txBody>
      </p:sp>
      <p:sp>
        <p:nvSpPr>
          <p:cNvPr id="16" name="TextBox 15"/>
          <p:cNvSpPr txBox="1"/>
          <p:nvPr/>
        </p:nvSpPr>
        <p:spPr>
          <a:xfrm>
            <a:off x="3633139"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15 lulus / lulus sebagian, 1 belum diimplementasikan</a:t>
            </a:r>
          </a:p>
        </p:txBody>
      </p:sp>
      <p:sp>
        <p:nvSpPr>
          <p:cNvPr id="17" name="Rounded Rectangle 16"/>
          <p:cNvSpPr/>
          <p:nvPr/>
        </p:nvSpPr>
        <p:spPr>
          <a:xfrm>
            <a:off x="6205575"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6743"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E2E</a:t>
            </a:r>
          </a:p>
        </p:txBody>
      </p:sp>
      <p:sp>
        <p:nvSpPr>
          <p:cNvPr id="19" name="TextBox 18"/>
          <p:cNvSpPr txBox="1"/>
          <p:nvPr/>
        </p:nvSpPr>
        <p:spPr>
          <a:xfrm>
            <a:off x="6406743"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Playwright</a:t>
            </a:r>
          </a:p>
        </p:txBody>
      </p:sp>
      <p:sp>
        <p:nvSpPr>
          <p:cNvPr id="20" name="TextBox 19"/>
          <p:cNvSpPr txBox="1"/>
          <p:nvPr/>
        </p:nvSpPr>
        <p:spPr>
          <a:xfrm>
            <a:off x="6406743"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navigasi antarmuka pada build produksi</a:t>
            </a:r>
          </a:p>
        </p:txBody>
      </p:sp>
      <p:sp>
        <p:nvSpPr>
          <p:cNvPr id="21" name="Rounded Rectangle 20"/>
          <p:cNvSpPr/>
          <p:nvPr/>
        </p:nvSpPr>
        <p:spPr>
          <a:xfrm>
            <a:off x="8979179" y="1847088"/>
            <a:ext cx="2554147" cy="1188720"/>
          </a:xfrm>
          <a:prstGeom prst="roundRect">
            <a:avLst>
              <a:gd name="adj" fmla="val 7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180347" y="1993392"/>
            <a:ext cx="2151811" cy="457200"/>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1B7A50"/>
                </a:solidFill>
                <a:latin typeface="Trebuchet MS"/>
              </a:rPr>
              <a:t>100%</a:t>
            </a:r>
          </a:p>
        </p:txBody>
      </p:sp>
      <p:sp>
        <p:nvSpPr>
          <p:cNvPr id="23" name="TextBox 22"/>
          <p:cNvSpPr txBox="1"/>
          <p:nvPr/>
        </p:nvSpPr>
        <p:spPr>
          <a:xfrm>
            <a:off x="9180347" y="2450592"/>
            <a:ext cx="2151811" cy="219456"/>
          </a:xfrm>
          <a:prstGeom prst="rect">
            <a:avLst/>
          </a:prstGeom>
          <a:noFill/>
        </p:spPr>
        <p:txBody>
          <a:bodyPr wrap="square" lIns="0" rIns="0" tIns="0" bIns="0" anchor="t">
            <a:spAutoFit/>
          </a:bodyPr>
          <a:lstStyle/>
          <a:p>
            <a:pPr algn="l">
              <a:lnSpc>
                <a:spcPct val="112000"/>
              </a:lnSpc>
              <a:spcBef>
                <a:spcPts val="0"/>
              </a:spcBef>
              <a:spcAft>
                <a:spcPts val="0"/>
              </a:spcAft>
            </a:pPr>
            <a:r>
              <a:rPr sz="1000" b="1" i="0" cap="all" spc="80">
                <a:solidFill>
                  <a:srgbClr val="0E2419"/>
                </a:solidFill>
                <a:latin typeface="Trebuchet MS"/>
              </a:rPr>
              <a:t>Pemeriksaan tipe</a:t>
            </a:r>
          </a:p>
        </p:txBody>
      </p:sp>
      <p:sp>
        <p:nvSpPr>
          <p:cNvPr id="24" name="TextBox 23"/>
          <p:cNvSpPr txBox="1"/>
          <p:nvPr/>
        </p:nvSpPr>
        <p:spPr>
          <a:xfrm>
            <a:off x="9180347" y="2670048"/>
            <a:ext cx="2151811" cy="310896"/>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CA096"/>
                </a:solidFill>
                <a:latin typeface="Arial"/>
              </a:rPr>
              <a:t>seluruh basis kode lulus</a:t>
            </a:r>
          </a:p>
        </p:txBody>
      </p:sp>
      <p:graphicFrame>
        <p:nvGraphicFramePr>
          <p:cNvPr id="25" name="Table 24"/>
          <p:cNvGraphicFramePr>
            <a:graphicFrameLocks noGrp="1"/>
          </p:cNvGraphicFramePr>
          <p:nvPr/>
        </p:nvGraphicFramePr>
        <p:xfrm>
          <a:off x="658368" y="3310128"/>
          <a:ext cx="10874957" cy="2450592"/>
        </p:xfrm>
        <a:graphic>
          <a:graphicData uri="http://schemas.openxmlformats.org/drawingml/2006/table">
            <a:tbl>
              <a:tblPr firstRow="1" bandRow="1">
                <a:tableStyleId>{5C22544A-7EE6-4342-B048-85BDC9FD1C3A}</a:tableStyleId>
              </a:tblPr>
              <a:tblGrid>
                <a:gridCol w="761247"/>
                <a:gridCol w="3044988"/>
                <a:gridCol w="5981227"/>
                <a:gridCol w="1087495"/>
              </a:tblGrid>
              <a:tr h="274320">
                <a:tc>
                  <a:txBody>
                    <a:bodyPr wrap="square"/>
                    <a:lstStyle/>
                    <a:p>
                      <a:pPr algn="l">
                        <a:lnSpc>
                          <a:spcPct val="112000"/>
                        </a:lnSpc>
                        <a:spcBef>
                          <a:spcPts val="0"/>
                        </a:spcBef>
                        <a:spcAft>
                          <a:spcPts val="0"/>
                        </a:spcAft>
                      </a:pPr>
                      <a:r>
                        <a:rPr sz="950" b="1" i="0" cap="all" spc="80">
                          <a:solidFill>
                            <a:srgbClr val="FFFFFF"/>
                          </a:solidFill>
                          <a:latin typeface="Trebuchet MS"/>
                        </a:rPr>
                        <a:t>Kode</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Skenario kunci</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Hasil aktual</a:t>
                      </a:r>
                    </a:p>
                  </a:txBody>
                  <a:tcPr marL="82296" marR="82296" marT="36576" marB="36576" anchor="ctr">
                    <a:solidFill>
                      <a:srgbClr val="0D3B26"/>
                    </a:solidFill>
                  </a:tcPr>
                </a:tc>
                <a:tc>
                  <a:txBody>
                    <a:bodyPr wrap="square"/>
                    <a:lstStyle/>
                    <a:p>
                      <a:pPr algn="l">
                        <a:lnSpc>
                          <a:spcPct val="112000"/>
                        </a:lnSpc>
                        <a:spcBef>
                          <a:spcPts val="0"/>
                        </a:spcBef>
                        <a:spcAft>
                          <a:spcPts val="0"/>
                        </a:spcAft>
                      </a:pPr>
                      <a:r>
                        <a:rPr sz="950" b="1" i="0" cap="all" spc="80">
                          <a:solidFill>
                            <a:srgbClr val="FFFFFF"/>
                          </a:solidFill>
                          <a:latin typeface="Trebuchet MS"/>
                        </a:rPr>
                        <a:t>Status</a:t>
                      </a:r>
                    </a:p>
                  </a:txBody>
                  <a:tcPr marL="82296" marR="82296" marT="36576" marB="36576" anchor="ctr">
                    <a:solidFill>
                      <a:srgbClr val="0D3B26"/>
                    </a:solidFill>
                  </a:tcPr>
                </a:tc>
              </a:tr>
              <a:tr h="310896">
                <a:tc>
                  <a:txBody>
                    <a:bodyPr wrap="square"/>
                    <a:lstStyle/>
                    <a:p>
                      <a:pPr algn="l">
                        <a:lnSpc>
                          <a:spcPct val="110000"/>
                        </a:lnSpc>
                        <a:spcBef>
                          <a:spcPts val="0"/>
                        </a:spcBef>
                        <a:spcAft>
                          <a:spcPts val="0"/>
                        </a:spcAft>
                      </a:pPr>
                      <a:r>
                        <a:rPr sz="919" b="0" i="0">
                          <a:solidFill>
                            <a:srgbClr val="0E2419"/>
                          </a:solidFill>
                          <a:latin typeface="Arial"/>
                        </a:rPr>
                        <a:t>TC-03</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Persistensi — dua siklus pada tumpukan yang sama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Pencocokan IoU bekerja benar, tidak terbentuk incident ganda</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1" i="0">
                          <a:solidFill>
                            <a:srgbClr val="1B7A50"/>
                          </a:solidFill>
                          <a:latin typeface="Arial"/>
                        </a:rPr>
                        <a:t>Lulus</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919" b="0" i="0">
                          <a:solidFill>
                            <a:srgbClr val="0E2419"/>
                          </a:solidFill>
                          <a:latin typeface="Arial"/>
                        </a:rPr>
                        <a:t>TC-05</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Skor prioritas</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Skor 0–100 beserta rincian tersimpan; telah diuji unit</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1" i="0">
                          <a:solidFill>
                            <a:srgbClr val="1B7A50"/>
                          </a:solidFill>
                          <a:latin typeface="Arial"/>
                        </a:rPr>
                        <a:t>Lulus</a:t>
                      </a:r>
                    </a:p>
                  </a:txBody>
                  <a:tcPr marL="82296" marR="82296" marT="27432" marB="27432" anchor="ctr">
                    <a:solidFill>
                      <a:srgbClr val="E8F3EC"/>
                    </a:solidFill>
                  </a:tcPr>
                </a:tc>
              </a:tr>
              <a:tr h="310896">
                <a:tc>
                  <a:txBody>
                    <a:bodyPr wrap="square"/>
                    <a:lstStyle/>
                    <a:p>
                      <a:pPr algn="l">
                        <a:lnSpc>
                          <a:spcPct val="110000"/>
                        </a:lnSpc>
                        <a:spcBef>
                          <a:spcPts val="0"/>
                        </a:spcBef>
                        <a:spcAft>
                          <a:spcPts val="0"/>
                        </a:spcAft>
                      </a:pPr>
                      <a:r>
                        <a:rPr sz="919" b="0" i="0">
                          <a:solidFill>
                            <a:srgbClr val="0E2419"/>
                          </a:solidFill>
                          <a:latin typeface="Arial"/>
                        </a:rPr>
                        <a:t>TC-10</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Eskalasi SLA melewati batas waktu</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Berjenjang dan monoton — jenjang yang sudah dilewati tidak dikirim ulang</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1" i="0">
                          <a:solidFill>
                            <a:srgbClr val="1B7A50"/>
                          </a:solidFill>
                          <a:latin typeface="Arial"/>
                        </a:rPr>
                        <a:t>Lulus</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919" b="0" i="0">
                          <a:solidFill>
                            <a:srgbClr val="0E2419"/>
                          </a:solidFill>
                          <a:latin typeface="Arial"/>
                        </a:rPr>
                        <a:t>TC-12</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Deteksi duplikat laporan warga</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Terdeteksi pada jarak ±40 m</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1" i="0">
                          <a:solidFill>
                            <a:srgbClr val="1B7A50"/>
                          </a:solidFill>
                          <a:latin typeface="Arial"/>
                        </a:rPr>
                        <a:t>Lulus</a:t>
                      </a:r>
                    </a:p>
                  </a:txBody>
                  <a:tcPr marL="82296" marR="82296" marT="27432" marB="27432" anchor="ctr">
                    <a:solidFill>
                      <a:srgbClr val="E8F3EC"/>
                    </a:solidFill>
                  </a:tcPr>
                </a:tc>
              </a:tr>
              <a:tr h="310896">
                <a:tc>
                  <a:txBody>
                    <a:bodyPr wrap="square"/>
                    <a:lstStyle/>
                    <a:p>
                      <a:pPr algn="l">
                        <a:lnSpc>
                          <a:spcPct val="110000"/>
                        </a:lnSpc>
                        <a:spcBef>
                          <a:spcPts val="0"/>
                        </a:spcBef>
                        <a:spcAft>
                          <a:spcPts val="0"/>
                        </a:spcAft>
                      </a:pPr>
                      <a:r>
                        <a:rPr sz="919" b="0" i="0">
                          <a:solidFill>
                            <a:srgbClr val="0E2419"/>
                          </a:solidFill>
                          <a:latin typeface="Arial"/>
                        </a:rPr>
                        <a:t>TC-14</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RBAC — akses tanpa hak</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Guard sisi server menolak, bukan hanya disembunyikan di tampilan</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1" i="0">
                          <a:solidFill>
                            <a:srgbClr val="1B7A50"/>
                          </a:solidFill>
                          <a:latin typeface="Arial"/>
                        </a:rPr>
                        <a:t>Lulus</a:t>
                      </a:r>
                    </a:p>
                  </a:txBody>
                  <a:tcPr marL="82296" marR="82296" marT="27432" marB="27432" anchor="ctr">
                    <a:solidFill>
                      <a:srgbClr val="FFFFFF"/>
                    </a:solidFill>
                  </a:tcPr>
                </a:tc>
              </a:tr>
              <a:tr h="310896">
                <a:tc>
                  <a:txBody>
                    <a:bodyPr wrap="square"/>
                    <a:lstStyle/>
                    <a:p>
                      <a:pPr algn="l">
                        <a:lnSpc>
                          <a:spcPct val="110000"/>
                        </a:lnSpc>
                        <a:spcBef>
                          <a:spcPts val="0"/>
                        </a:spcBef>
                        <a:spcAft>
                          <a:spcPts val="0"/>
                        </a:spcAft>
                      </a:pPr>
                      <a:r>
                        <a:rPr sz="919" b="0" i="0">
                          <a:solidFill>
                            <a:srgbClr val="0E2419"/>
                          </a:solidFill>
                          <a:latin typeface="Arial"/>
                        </a:rPr>
                        <a:t>TC-02</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Deteksi sampah pada frame CCTV</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0" i="0">
                          <a:solidFill>
                            <a:srgbClr val="0E2419"/>
                          </a:solidFill>
                          <a:latin typeface="Arial"/>
                        </a:rPr>
                        <a:t>Terdeteksi; presisi masih rendah pada CCTV Bandung</a:t>
                      </a:r>
                    </a:p>
                  </a:txBody>
                  <a:tcPr marL="82296" marR="82296" marT="27432" marB="27432" anchor="ctr">
                    <a:solidFill>
                      <a:srgbClr val="E8F3EC"/>
                    </a:solidFill>
                  </a:tcPr>
                </a:tc>
                <a:tc>
                  <a:txBody>
                    <a:bodyPr wrap="square"/>
                    <a:lstStyle/>
                    <a:p>
                      <a:pPr algn="l">
                        <a:lnSpc>
                          <a:spcPct val="110000"/>
                        </a:lnSpc>
                        <a:spcBef>
                          <a:spcPts val="0"/>
                        </a:spcBef>
                        <a:spcAft>
                          <a:spcPts val="0"/>
                        </a:spcAft>
                      </a:pPr>
                      <a:r>
                        <a:rPr sz="919" b="1" i="0">
                          <a:solidFill>
                            <a:srgbClr val="C08A1A"/>
                          </a:solidFill>
                          <a:latin typeface="Arial"/>
                        </a:rPr>
                        <a:t>Sebagian</a:t>
                      </a:r>
                    </a:p>
                  </a:txBody>
                  <a:tcPr marL="82296" marR="82296" marT="27432" marB="27432" anchor="ctr">
                    <a:solidFill>
                      <a:srgbClr val="E8F3EC"/>
                    </a:solidFill>
                  </a:tcPr>
                </a:tc>
              </a:tr>
              <a:tr h="310896">
                <a:tc>
                  <a:txBody>
                    <a:bodyPr wrap="square"/>
                    <a:lstStyle/>
                    <a:p>
                      <a:pPr algn="l">
                        <a:lnSpc>
                          <a:spcPct val="110000"/>
                        </a:lnSpc>
                        <a:spcBef>
                          <a:spcPts val="0"/>
                        </a:spcBef>
                        <a:spcAft>
                          <a:spcPts val="0"/>
                        </a:spcAft>
                      </a:pPr>
                      <a:r>
                        <a:rPr sz="919" b="0" i="0">
                          <a:solidFill>
                            <a:srgbClr val="0E2419"/>
                          </a:solidFill>
                          <a:latin typeface="Arial"/>
                        </a:rPr>
                        <a:t>TC-16</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Event clip sebagai bukti video</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0" i="0">
                          <a:solidFill>
                            <a:srgbClr val="0E2419"/>
                          </a:solidFill>
                          <a:latin typeface="Arial"/>
                        </a:rPr>
                        <a:t>Belum diimplementasikan (FR-18) — konsekuensi arsitektur snapshot</a:t>
                      </a:r>
                    </a:p>
                  </a:txBody>
                  <a:tcPr marL="82296" marR="82296" marT="27432" marB="27432" anchor="ctr">
                    <a:solidFill>
                      <a:srgbClr val="FFFFFF"/>
                    </a:solidFill>
                  </a:tcPr>
                </a:tc>
                <a:tc>
                  <a:txBody>
                    <a:bodyPr wrap="square"/>
                    <a:lstStyle/>
                    <a:p>
                      <a:pPr algn="l">
                        <a:lnSpc>
                          <a:spcPct val="110000"/>
                        </a:lnSpc>
                        <a:spcBef>
                          <a:spcPts val="0"/>
                        </a:spcBef>
                        <a:spcAft>
                          <a:spcPts val="0"/>
                        </a:spcAft>
                      </a:pPr>
                      <a:r>
                        <a:rPr sz="919" b="1" i="0">
                          <a:solidFill>
                            <a:srgbClr val="5F7568"/>
                          </a:solidFill>
                          <a:latin typeface="Arial"/>
                        </a:rPr>
                        <a:t>N/A</a:t>
                      </a:r>
                    </a:p>
                  </a:txBody>
                  <a:tcPr marL="82296" marR="82296" marT="27432" marB="27432" anchor="ctr">
                    <a:solidFill>
                      <a:srgbClr val="FFFFFF"/>
                    </a:solidFill>
                  </a:tcPr>
                </a:tc>
              </a:tr>
            </a:tbl>
          </a:graphicData>
        </a:graphic>
      </p:graphicFrame>
      <p:sp>
        <p:nvSpPr>
          <p:cNvPr id="26" name="TextBox 25"/>
          <p:cNvSpPr txBox="1"/>
          <p:nvPr/>
        </p:nvSpPr>
        <p:spPr>
          <a:xfrm>
            <a:off x="658368" y="5907024"/>
            <a:ext cx="10874959" cy="365760"/>
          </a:xfrm>
          <a:prstGeom prst="rect">
            <a:avLst/>
          </a:prstGeom>
          <a:noFill/>
        </p:spPr>
        <p:txBody>
          <a:bodyPr wrap="square" lIns="0" rIns="0" tIns="0" bIns="0" anchor="t">
            <a:spAutoFit/>
          </a:bodyPr>
          <a:lstStyle/>
          <a:p>
            <a:pPr algn="l">
              <a:lnSpc>
                <a:spcPct val="125000"/>
              </a:lnSpc>
              <a:spcBef>
                <a:spcPts val="0"/>
              </a:spcBef>
              <a:spcAft>
                <a:spcPts val="0"/>
              </a:spcAft>
            </a:pPr>
            <a:r>
              <a:rPr sz="1000" b="0" i="0">
                <a:solidFill>
                  <a:srgbClr val="5F7568"/>
                </a:solidFill>
                <a:latin typeface="Arial"/>
              </a:rPr>
              <a:t>Uji unit memakai PostgreSQL in-memory (PGlite/WASM) sehingga tidak butuh basis data sungguhan dan dapat dijalankan di mesin mana pun. Setiap berkas uji ditempatkan bersebelahan dengan kode yang diujinya.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Rencana</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Continuous improvement — siklus yang sudah terpasang</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1353312"/>
            <a:ext cx="10004962"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F7568"/>
                </a:solidFill>
                <a:latin typeface="Arial"/>
              </a:rPr>
              <a:t>Keunggulan struktural sistem: setiap penandaan false positive oleh operator sesungguhnya adalah pelabelan data gratis oleh manusia terlatih, dan seluruhnya sudah tersimpan di audit log.</a:t>
            </a:r>
          </a:p>
        </p:txBody>
      </p:sp>
      <p:sp>
        <p:nvSpPr>
          <p:cNvPr id="7" name="TextBox 6"/>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8" name="TextBox 7"/>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35 / 37</a:t>
            </a:r>
          </a:p>
        </p:txBody>
      </p:sp>
      <p:sp>
        <p:nvSpPr>
          <p:cNvPr id="9" name="Chevron 8"/>
          <p:cNvSpPr/>
          <p:nvPr/>
        </p:nvSpPr>
        <p:spPr>
          <a:xfrm>
            <a:off x="658368" y="1847088"/>
            <a:ext cx="1766773" cy="777240"/>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Identifikasi FP &amp; missed detection dari data operasional</a:t>
            </a:r>
          </a:p>
        </p:txBody>
      </p:sp>
      <p:sp>
        <p:nvSpPr>
          <p:cNvPr id="10" name="Chevron 9"/>
          <p:cNvSpPr/>
          <p:nvPr/>
        </p:nvSpPr>
        <p:spPr>
          <a:xfrm>
            <a:off x="2480005" y="1847088"/>
            <a:ext cx="1766773" cy="777240"/>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Pelabelan frame dari kamera target</a:t>
            </a:r>
          </a:p>
        </p:txBody>
      </p:sp>
      <p:sp>
        <p:nvSpPr>
          <p:cNvPr id="11" name="Chevron 10"/>
          <p:cNvSpPr/>
          <p:nvPr/>
        </p:nvSpPr>
        <p:spPr>
          <a:xfrm>
            <a:off x="4301642" y="1847088"/>
            <a:ext cx="1766773" cy="777240"/>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Gabung positif kamera target + negatif kendaraan</a:t>
            </a:r>
          </a:p>
        </p:txBody>
      </p:sp>
      <p:sp>
        <p:nvSpPr>
          <p:cNvPr id="12" name="Chevron 11"/>
          <p:cNvSpPr/>
          <p:nvPr/>
        </p:nvSpPr>
        <p:spPr>
          <a:xfrm>
            <a:off x="6123279" y="1847088"/>
            <a:ext cx="1766773" cy="777240"/>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Retraining dari bobot dasar yang sama</a:t>
            </a:r>
          </a:p>
        </p:txBody>
      </p:sp>
      <p:sp>
        <p:nvSpPr>
          <p:cNvPr id="13" name="Chevron 12"/>
          <p:cNvSpPr/>
          <p:nvPr/>
        </p:nvSpPr>
        <p:spPr>
          <a:xfrm>
            <a:off x="7944916" y="1847088"/>
            <a:ext cx="1766773" cy="777240"/>
          </a:xfrm>
          <a:prstGeom prst="chevron">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Bandingkan pada frame uji yang identik</a:t>
            </a:r>
          </a:p>
        </p:txBody>
      </p:sp>
      <p:sp>
        <p:nvSpPr>
          <p:cNvPr id="14" name="Chevron 13"/>
          <p:cNvSpPr/>
          <p:nvPr/>
        </p:nvSpPr>
        <p:spPr>
          <a:xfrm>
            <a:off x="9766554" y="1847088"/>
            <a:ext cx="1766773" cy="777240"/>
          </a:xfrm>
          <a:prstGeom prst="chevron">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lnSpc>
                <a:spcPct val="105000"/>
              </a:lnSpc>
              <a:spcBef>
                <a:spcPts val="0"/>
              </a:spcBef>
              <a:spcAft>
                <a:spcPts val="0"/>
              </a:spcAft>
            </a:pPr>
            <a:r>
              <a:rPr sz="950" b="1" i="0">
                <a:solidFill>
                  <a:srgbClr val="FFFFFF"/>
                </a:solidFill>
                <a:latin typeface="Trebuchet MS"/>
              </a:rPr>
              <a:t>Dokumentasikan versi model + metriknya</a:t>
            </a:r>
          </a:p>
        </p:txBody>
      </p:sp>
      <p:sp>
        <p:nvSpPr>
          <p:cNvPr id="15" name="Rounded Rectangle 14"/>
          <p:cNvSpPr/>
          <p:nvPr/>
        </p:nvSpPr>
        <p:spPr>
          <a:xfrm>
            <a:off x="658368" y="2935224"/>
            <a:ext cx="3454298"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2935224"/>
            <a:ext cx="50292" cy="137160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96112" y="310896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Jangka pendek</a:t>
            </a:r>
          </a:p>
        </p:txBody>
      </p:sp>
      <p:sp>
        <p:nvSpPr>
          <p:cNvPr id="18" name="TextBox 17"/>
          <p:cNvSpPr txBox="1"/>
          <p:nvPr/>
        </p:nvSpPr>
        <p:spPr>
          <a:xfrm>
            <a:off x="896112" y="3419856"/>
            <a:ext cx="2997098" cy="82296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Eksekusi fine-tuning negatif kendaraan (data sudah siap, 7,5 MB), lalu ukur ulang pada frame baseline yang identik.</a:t>
            </a:r>
          </a:p>
        </p:txBody>
      </p:sp>
      <p:sp>
        <p:nvSpPr>
          <p:cNvPr id="19" name="Rounded Rectangle 18"/>
          <p:cNvSpPr/>
          <p:nvPr/>
        </p:nvSpPr>
        <p:spPr>
          <a:xfrm>
            <a:off x="4368698" y="2935224"/>
            <a:ext cx="3454298"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368698" y="2935224"/>
            <a:ext cx="50292" cy="137160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606442" y="310896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Jangka menengah</a:t>
            </a:r>
          </a:p>
        </p:txBody>
      </p:sp>
      <p:sp>
        <p:nvSpPr>
          <p:cNvPr id="22" name="TextBox 21"/>
          <p:cNvSpPr txBox="1"/>
          <p:nvPr/>
        </p:nvSpPr>
        <p:spPr>
          <a:xfrm>
            <a:off x="4606442" y="3419856"/>
            <a:ext cx="2997098" cy="82296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Pelabelan manual 300–500 frame dari 14 kamera layak untuk menaikkan recall — satu-satunya jalan yang tersedia.</a:t>
            </a:r>
          </a:p>
        </p:txBody>
      </p:sp>
      <p:sp>
        <p:nvSpPr>
          <p:cNvPr id="23" name="Rounded Rectangle 22"/>
          <p:cNvSpPr/>
          <p:nvPr/>
        </p:nvSpPr>
        <p:spPr>
          <a:xfrm>
            <a:off x="8079028" y="2935224"/>
            <a:ext cx="3454298" cy="137160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079028" y="2935224"/>
            <a:ext cx="50292" cy="1371600"/>
          </a:xfrm>
          <a:prstGeom prst="rect">
            <a:avLst/>
          </a:prstGeom>
          <a:solidFill>
            <a:srgbClr val="2F6E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16772" y="3108960"/>
            <a:ext cx="2997098" cy="274320"/>
          </a:xfrm>
          <a:prstGeom prst="rect">
            <a:avLst/>
          </a:prstGeom>
          <a:noFill/>
        </p:spPr>
        <p:txBody>
          <a:bodyPr wrap="square" lIns="0" rIns="0" tIns="0" bIns="0" anchor="t">
            <a:spAutoFit/>
          </a:bodyPr>
          <a:lstStyle/>
          <a:p>
            <a:pPr algn="l">
              <a:lnSpc>
                <a:spcPct val="105000"/>
              </a:lnSpc>
              <a:spcBef>
                <a:spcPts val="0"/>
              </a:spcBef>
              <a:spcAft>
                <a:spcPts val="0"/>
              </a:spcAft>
            </a:pPr>
            <a:r>
              <a:rPr sz="1250" b="1" i="0">
                <a:solidFill>
                  <a:srgbClr val="0E2419"/>
                </a:solidFill>
                <a:latin typeface="Trebuchet MS"/>
              </a:rPr>
              <a:t>Jangka panjang</a:t>
            </a:r>
          </a:p>
        </p:txBody>
      </p:sp>
      <p:sp>
        <p:nvSpPr>
          <p:cNvPr id="26" name="TextBox 25"/>
          <p:cNvSpPr txBox="1"/>
          <p:nvPr/>
        </p:nvSpPr>
        <p:spPr>
          <a:xfrm>
            <a:off x="8316772" y="3419856"/>
            <a:ext cx="2997098" cy="822960"/>
          </a:xfrm>
          <a:prstGeom prst="rect">
            <a:avLst/>
          </a:prstGeom>
          <a:noFill/>
        </p:spPr>
        <p:txBody>
          <a:bodyPr wrap="square" lIns="0" rIns="0" tIns="0" bIns="0" anchor="t">
            <a:spAutoFit/>
          </a:bodyPr>
          <a:lstStyle/>
          <a:p>
            <a:pPr algn="l">
              <a:lnSpc>
                <a:spcPct val="130000"/>
              </a:lnSpc>
              <a:spcBef>
                <a:spcPts val="0"/>
              </a:spcBef>
              <a:spcAft>
                <a:spcPts val="0"/>
              </a:spcAft>
            </a:pPr>
            <a:r>
              <a:rPr sz="1050" b="0" i="0">
                <a:solidFill>
                  <a:srgbClr val="5F7568"/>
                </a:solidFill>
                <a:latin typeface="Arial"/>
              </a:rPr>
              <a:t>Klasifikasi jenis sampah, Green Score API, integrasi bank sampah, estimasi CO₂e, dan prediksi titik rawan.</a:t>
            </a:r>
          </a:p>
        </p:txBody>
      </p:sp>
      <p:sp>
        <p:nvSpPr>
          <p:cNvPr id="27" name="Rounded Rectangle 26"/>
          <p:cNvSpPr/>
          <p:nvPr/>
        </p:nvSpPr>
        <p:spPr>
          <a:xfrm>
            <a:off x="658368" y="4626864"/>
            <a:ext cx="10874959" cy="905256"/>
          </a:xfrm>
          <a:prstGeom prst="roundRect">
            <a:avLst>
              <a:gd name="adj" fmla="val 5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4626864"/>
            <a:ext cx="54864" cy="905256"/>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96112" y="4782312"/>
            <a:ext cx="10417759" cy="237744"/>
          </a:xfrm>
          <a:prstGeom prst="rect">
            <a:avLst/>
          </a:prstGeom>
          <a:noFill/>
        </p:spPr>
        <p:txBody>
          <a:bodyPr wrap="square" lIns="0" rIns="0" tIns="0" bIns="0" anchor="t">
            <a:spAutoFit/>
          </a:bodyPr>
          <a:lstStyle/>
          <a:p>
            <a:pPr algn="l">
              <a:lnSpc>
                <a:spcPct val="112000"/>
              </a:lnSpc>
              <a:spcBef>
                <a:spcPts val="0"/>
              </a:spcBef>
              <a:spcAft>
                <a:spcPts val="0"/>
              </a:spcAft>
            </a:pPr>
            <a:r>
              <a:rPr sz="1150" b="1" i="0" cap="all" spc="80">
                <a:solidFill>
                  <a:srgbClr val="1B7A50"/>
                </a:solidFill>
                <a:latin typeface="Trebuchet MS"/>
              </a:rPr>
              <a:t>Traceability versi model</a:t>
            </a:r>
          </a:p>
        </p:txBody>
      </p:sp>
      <p:sp>
        <p:nvSpPr>
          <p:cNvPr id="30" name="TextBox 29"/>
          <p:cNvSpPr txBox="1"/>
          <p:nvPr/>
        </p:nvSpPr>
        <p:spPr>
          <a:xfrm>
            <a:off x="896112" y="5047488"/>
            <a:ext cx="10417759" cy="356616"/>
          </a:xfrm>
          <a:prstGeom prst="rect">
            <a:avLst/>
          </a:prstGeom>
          <a:noFill/>
        </p:spPr>
        <p:txBody>
          <a:bodyPr wrap="square" lIns="0" rIns="0" tIns="0" bIns="0" anchor="t">
            <a:spAutoFit/>
          </a:bodyPr>
          <a:lstStyle/>
          <a:p>
            <a:pPr algn="l">
              <a:lnSpc>
                <a:spcPct val="128000"/>
              </a:lnSpc>
              <a:spcBef>
                <a:spcPts val="0"/>
              </a:spcBef>
              <a:spcAft>
                <a:spcPts val="0"/>
              </a:spcAft>
            </a:pPr>
            <a:r>
              <a:rPr sz="1050" b="0" i="0">
                <a:solidFill>
                  <a:srgbClr val="0E2419"/>
                </a:solidFill>
                <a:latin typeface="Arial"/>
              </a:rPr>
              <a:t>Setiap versi model didokumentasikan beserta metrik performanya, sehingga setiap penurunan kualitas dapat ditelusuri ke versi mana penyebabnya — bukan ditebak.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84048"/>
            <a:ext cx="10874959" cy="219456"/>
          </a:xfrm>
          <a:prstGeom prst="rect">
            <a:avLst/>
          </a:prstGeom>
          <a:noFill/>
        </p:spPr>
        <p:txBody>
          <a:bodyPr wrap="square" lIns="0" rIns="0" tIns="0" bIns="0" anchor="t">
            <a:spAutoFit/>
          </a:bodyPr>
          <a:lstStyle/>
          <a:p>
            <a:pPr algn="l">
              <a:lnSpc>
                <a:spcPct val="112000"/>
              </a:lnSpc>
              <a:spcBef>
                <a:spcPts val="0"/>
              </a:spcBef>
              <a:spcAft>
                <a:spcPts val="0"/>
              </a:spcAft>
            </a:pPr>
            <a:r>
              <a:rPr sz="950" b="1" i="0" cap="all" spc="80">
                <a:solidFill>
                  <a:srgbClr val="1B7A50"/>
                </a:solidFill>
                <a:latin typeface="Trebuchet MS"/>
              </a:rPr>
              <a:t>Penutup</a:t>
            </a:r>
          </a:p>
        </p:txBody>
      </p:sp>
      <p:sp>
        <p:nvSpPr>
          <p:cNvPr id="4" name="TextBox 3"/>
          <p:cNvSpPr txBox="1"/>
          <p:nvPr/>
        </p:nvSpPr>
        <p:spPr>
          <a:xfrm>
            <a:off x="658368" y="640080"/>
            <a:ext cx="10874959" cy="475488"/>
          </a:xfrm>
          <a:prstGeom prst="rect">
            <a:avLst/>
          </a:prstGeom>
          <a:noFill/>
        </p:spPr>
        <p:txBody>
          <a:bodyPr wrap="square" lIns="0" rIns="0" tIns="0" bIns="0" anchor="t">
            <a:spAutoFit/>
          </a:bodyPr>
          <a:lstStyle/>
          <a:p>
            <a:pPr algn="l">
              <a:lnSpc>
                <a:spcPct val="100000"/>
              </a:lnSpc>
              <a:spcBef>
                <a:spcPts val="0"/>
              </a:spcBef>
              <a:spcAft>
                <a:spcPts val="0"/>
              </a:spcAft>
            </a:pPr>
            <a:r>
              <a:rPr sz="2700" b="1" i="0">
                <a:solidFill>
                  <a:srgbClr val="0E2419"/>
                </a:solidFill>
                <a:latin typeface="Trebuchet MS"/>
              </a:rPr>
              <a:t>Kesimpulan</a:t>
            </a:r>
          </a:p>
        </p:txBody>
      </p:sp>
      <p:sp>
        <p:nvSpPr>
          <p:cNvPr id="5" name="Rectangle 4"/>
          <p:cNvSpPr/>
          <p:nvPr/>
        </p:nvSpPr>
        <p:spPr>
          <a:xfrm>
            <a:off x="658368" y="1207008"/>
            <a:ext cx="960120" cy="41148"/>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 y="6382512"/>
            <a:ext cx="5486400" cy="219456"/>
          </a:xfrm>
          <a:prstGeom prst="rect">
            <a:avLst/>
          </a:prstGeom>
          <a:noFill/>
        </p:spPr>
        <p:txBody>
          <a:bodyPr wrap="square" lIns="0" rIns="0" tIns="0" bIns="0" anchor="t">
            <a:spAutoFit/>
          </a:bodyPr>
          <a:lstStyle/>
          <a:p>
            <a:pPr algn="l">
              <a:lnSpc>
                <a:spcPct val="112000"/>
              </a:lnSpc>
              <a:spcBef>
                <a:spcPts val="0"/>
              </a:spcBef>
              <a:spcAft>
                <a:spcPts val="0"/>
              </a:spcAft>
            </a:pPr>
            <a:r>
              <a:rPr sz="850" b="0" i="0" cap="all" spc="80">
                <a:solidFill>
                  <a:srgbClr val="8CA096"/>
                </a:solidFill>
                <a:latin typeface="Trebuchet MS"/>
              </a:rPr>
              <a:t>NOVIRA · Detect Today, Keep Tomorrow</a:t>
            </a:r>
          </a:p>
        </p:txBody>
      </p:sp>
      <p:sp>
        <p:nvSpPr>
          <p:cNvPr id="7" name="TextBox 6"/>
          <p:cNvSpPr txBox="1"/>
          <p:nvPr/>
        </p:nvSpPr>
        <p:spPr>
          <a:xfrm>
            <a:off x="10436047" y="6382512"/>
            <a:ext cx="1097280" cy="219456"/>
          </a:xfrm>
          <a:prstGeom prst="rect">
            <a:avLst/>
          </a:prstGeom>
          <a:noFill/>
        </p:spPr>
        <p:txBody>
          <a:bodyPr wrap="square" lIns="0" rIns="0" tIns="0" bIns="0" anchor="t">
            <a:spAutoFit/>
          </a:bodyPr>
          <a:lstStyle/>
          <a:p>
            <a:pPr algn="r">
              <a:lnSpc>
                <a:spcPct val="112000"/>
              </a:lnSpc>
              <a:spcBef>
                <a:spcPts val="0"/>
              </a:spcBef>
              <a:spcAft>
                <a:spcPts val="0"/>
              </a:spcAft>
            </a:pPr>
            <a:r>
              <a:rPr sz="850" b="0" i="0">
                <a:solidFill>
                  <a:srgbClr val="0E2419"/>
                </a:solidFill>
                <a:latin typeface="Arial"/>
              </a:rPr>
              <a:t/>
            </a:r>
            <a:r>
              <a:rPr sz="850" b="0" i="0">
                <a:solidFill>
                  <a:srgbClr val="8CA096"/>
                </a:solidFill>
                <a:latin typeface="Trebuchet MS"/>
              </a:rPr>
              <a:t>36 / 37</a:t>
            </a:r>
          </a:p>
        </p:txBody>
      </p:sp>
      <p:sp>
        <p:nvSpPr>
          <p:cNvPr id="8" name="Rounded Rectangle 7"/>
          <p:cNvSpPr/>
          <p:nvPr/>
        </p:nvSpPr>
        <p:spPr>
          <a:xfrm>
            <a:off x="658368" y="1389888"/>
            <a:ext cx="5309463" cy="196596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1389888"/>
            <a:ext cx="50292" cy="1965960"/>
          </a:xfrm>
          <a:prstGeom prst="rect">
            <a:avLst/>
          </a:prstGeom>
          <a:solidFill>
            <a:srgbClr val="1B7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1563624"/>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0E2419"/>
                </a:solidFill>
                <a:latin typeface="Trebuchet MS"/>
              </a:rPr>
              <a:t>Yang sudah tercapai</a:t>
            </a:r>
          </a:p>
        </p:txBody>
      </p:sp>
      <p:sp>
        <p:nvSpPr>
          <p:cNvPr id="11" name="TextBox 10"/>
          <p:cNvSpPr txBox="1"/>
          <p:nvPr/>
        </p:nvSpPr>
        <p:spPr>
          <a:xfrm>
            <a:off x="896112" y="1874519"/>
            <a:ext cx="4852263" cy="1417319"/>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5F7568"/>
                </a:solidFill>
                <a:latin typeface="Arial"/>
              </a:rPr>
              <a:t>290 kamera terverifikasi aktif di 27 dari 30 kecamatan · incident management lengkap dengan eskalasi SLA berjenjang · mesin prioritas 0–100 yang dapat dijelaskan faktor demi faktor · partisipasi masyarakat dengan pelacakan tanpa akun · analitik titik kronis dan usulan jendela patroli · 137 unit test lulus seluruhnya beserta E2E.</a:t>
            </a:r>
          </a:p>
        </p:txBody>
      </p:sp>
      <p:sp>
        <p:nvSpPr>
          <p:cNvPr id="12" name="Rounded Rectangle 11"/>
          <p:cNvSpPr/>
          <p:nvPr/>
        </p:nvSpPr>
        <p:spPr>
          <a:xfrm>
            <a:off x="6223863" y="1389888"/>
            <a:ext cx="5309463" cy="1965960"/>
          </a:xfrm>
          <a:prstGeom prst="roundRect">
            <a:avLst>
              <a:gd name="adj" fmla="val 6000"/>
            </a:avLst>
          </a:prstGeom>
          <a:solidFill>
            <a:srgbClr val="FFFFFF"/>
          </a:solidFill>
          <a:ln w="12700">
            <a:solidFill>
              <a:srgbClr val="D8E5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23863" y="1389888"/>
            <a:ext cx="50292" cy="1965960"/>
          </a:xfrm>
          <a:prstGeom prst="rect">
            <a:avLst/>
          </a:prstGeom>
          <a:solidFill>
            <a:srgbClr val="C0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61607" y="1563624"/>
            <a:ext cx="4852263" cy="274320"/>
          </a:xfrm>
          <a:prstGeom prst="rect">
            <a:avLst/>
          </a:prstGeom>
          <a:noFill/>
        </p:spPr>
        <p:txBody>
          <a:bodyPr wrap="square" lIns="0" rIns="0" tIns="0" bIns="0" anchor="t">
            <a:spAutoFit/>
          </a:bodyPr>
          <a:lstStyle/>
          <a:p>
            <a:pPr algn="l">
              <a:lnSpc>
                <a:spcPct val="105000"/>
              </a:lnSpc>
              <a:spcBef>
                <a:spcPts val="0"/>
              </a:spcBef>
              <a:spcAft>
                <a:spcPts val="0"/>
              </a:spcAft>
            </a:pPr>
            <a:r>
              <a:rPr sz="1350" b="1" i="0">
                <a:solidFill>
                  <a:srgbClr val="0E2419"/>
                </a:solidFill>
                <a:latin typeface="Trebuchet MS"/>
              </a:rPr>
              <a:t>Yang harus disampaikan apa adanya</a:t>
            </a:r>
          </a:p>
        </p:txBody>
      </p:sp>
      <p:sp>
        <p:nvSpPr>
          <p:cNvPr id="15" name="TextBox 14"/>
          <p:cNvSpPr txBox="1"/>
          <p:nvPr/>
        </p:nvSpPr>
        <p:spPr>
          <a:xfrm>
            <a:off x="6461607" y="1929384"/>
            <a:ext cx="4852263" cy="1417319"/>
          </a:xfrm>
          <a:prstGeom prst="rect">
            <a:avLst/>
          </a:prstGeom>
          <a:noFill/>
        </p:spPr>
        <p:txBody>
          <a:bodyPr wrap="square" lIns="0" rIns="0" tIns="0" bIns="0" anchor="t">
            <a:spAutoFit/>
          </a:bodyPr>
          <a:lstStyle/>
          <a:p>
            <a:pPr algn="l">
              <a:lnSpc>
                <a:spcPct val="130000"/>
              </a:lnSpc>
              <a:spcBef>
                <a:spcPts val="0"/>
              </a:spcBef>
              <a:spcAft>
                <a:spcPts val="0"/>
              </a:spcAft>
            </a:pPr>
            <a:r>
              <a:rPr sz="1100" b="0" i="0">
                <a:solidFill>
                  <a:srgbClr val="5F7568"/>
                </a:solidFill>
                <a:latin typeface="Arial"/>
              </a:rPr>
              <a:t>Model deteksi publik belum cukup akurat untuk citra CCTV Kota Bandung: 57% deteksi masih false positive dan objek di bawah 16 piksel tidak terkenali. Ini bukan kegagalan proyek, melainkan hasil pengukuran yang justru menentukan arah pengembangan berikutnya — dan sudah dijawab dengan rancangan fine-tuning yang datanya siap serta metode pengukuran hasilnya yang adil.</a:t>
            </a:r>
          </a:p>
        </p:txBody>
      </p:sp>
      <p:sp>
        <p:nvSpPr>
          <p:cNvPr id="16" name="Rounded Rectangle 15"/>
          <p:cNvSpPr/>
          <p:nvPr/>
        </p:nvSpPr>
        <p:spPr>
          <a:xfrm>
            <a:off x="658368" y="3749039"/>
            <a:ext cx="10874959" cy="960120"/>
          </a:xfrm>
          <a:prstGeom prst="roundRect">
            <a:avLst>
              <a:gd name="adj" fmla="val 10000"/>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24128" y="3931920"/>
            <a:ext cx="10143439" cy="640080"/>
          </a:xfrm>
          <a:prstGeom prst="rect">
            <a:avLst/>
          </a:prstGeom>
          <a:noFill/>
        </p:spPr>
        <p:txBody>
          <a:bodyPr wrap="square" lIns="0" rIns="0" tIns="0" bIns="0" anchor="t">
            <a:spAutoFit/>
          </a:bodyPr>
          <a:lstStyle/>
          <a:p>
            <a:pPr algn="ctr">
              <a:lnSpc>
                <a:spcPct val="112000"/>
              </a:lnSpc>
              <a:spcBef>
                <a:spcPts val="0"/>
              </a:spcBef>
              <a:spcAft>
                <a:spcPts val="500"/>
              </a:spcAft>
            </a:pPr>
            <a:r>
              <a:rPr sz="1700" b="1" i="0">
                <a:solidFill>
                  <a:srgbClr val="FFFFFF"/>
                </a:solidFill>
                <a:latin typeface="Trebuchet MS"/>
              </a:rPr>
              <a:t>“AI menyaring, manusia memutuskan.”</a:t>
            </a:r>
          </a:p>
          <a:p>
            <a:pPr algn="ctr">
              <a:lnSpc>
                <a:spcPct val="128000"/>
              </a:lnSpc>
              <a:spcBef>
                <a:spcPts val="0"/>
              </a:spcBef>
              <a:spcAft>
                <a:spcPts val="400"/>
              </a:spcAft>
            </a:pPr>
            <a:r>
              <a:rPr sz="1100" b="0" i="0">
                <a:solidFill>
                  <a:srgbClr val="E8F3EC"/>
                </a:solidFill>
                <a:latin typeface="Arial"/>
              </a:rPr>
              <a:t>Tidak ada satu pun jalur di dalam sistem yang mengubah status sebuah kejadian secara otomatis berdasarkan keluaran model. Prinsip ini bukan sekadar kehati-hatian, melainkan konsekuensi logis dari angka akurasi yang kami ukur sendiri.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3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 name="Picture 3" descr="novira-logo.png"/>
          <p:cNvPicPr>
            <a:picLocks noChangeAspect="1"/>
          </p:cNvPicPr>
          <p:nvPr/>
        </p:nvPicPr>
        <p:blipFill>
          <a:blip r:embed="rId2"/>
          <a:stretch>
            <a:fillRect/>
          </a:stretch>
        </p:blipFill>
        <p:spPr>
          <a:xfrm>
            <a:off x="5318607" y="1371600"/>
            <a:ext cx="1566146" cy="1554480"/>
          </a:xfrm>
          <a:prstGeom prst="rect">
            <a:avLst/>
          </a:prstGeom>
        </p:spPr>
      </p:pic>
      <p:sp>
        <p:nvSpPr>
          <p:cNvPr id="5" name="TextBox 4"/>
          <p:cNvSpPr txBox="1"/>
          <p:nvPr/>
        </p:nvSpPr>
        <p:spPr>
          <a:xfrm>
            <a:off x="1371600" y="3127248"/>
            <a:ext cx="9448495" cy="731520"/>
          </a:xfrm>
          <a:prstGeom prst="rect">
            <a:avLst/>
          </a:prstGeom>
          <a:noFill/>
        </p:spPr>
        <p:txBody>
          <a:bodyPr wrap="square" lIns="0" rIns="0" tIns="0" bIns="0" anchor="t">
            <a:spAutoFit/>
          </a:bodyPr>
          <a:lstStyle/>
          <a:p>
            <a:pPr algn="ctr">
              <a:lnSpc>
                <a:spcPct val="112000"/>
              </a:lnSpc>
              <a:spcBef>
                <a:spcPts val="0"/>
              </a:spcBef>
              <a:spcAft>
                <a:spcPts val="0"/>
              </a:spcAft>
            </a:pPr>
            <a:r>
              <a:rPr sz="4000" b="1" i="0">
                <a:solidFill>
                  <a:srgbClr val="FFFFFF"/>
                </a:solidFill>
                <a:latin typeface="Trebuchet MS"/>
              </a:rPr>
              <a:t>Terima kasih</a:t>
            </a:r>
          </a:p>
        </p:txBody>
      </p:sp>
      <p:sp>
        <p:nvSpPr>
          <p:cNvPr id="6" name="TextBox 5"/>
          <p:cNvSpPr txBox="1"/>
          <p:nvPr/>
        </p:nvSpPr>
        <p:spPr>
          <a:xfrm>
            <a:off x="1828800" y="3931920"/>
            <a:ext cx="8534095" cy="731520"/>
          </a:xfrm>
          <a:prstGeom prst="rect">
            <a:avLst/>
          </a:prstGeom>
          <a:noFill/>
        </p:spPr>
        <p:txBody>
          <a:bodyPr wrap="square" lIns="0" rIns="0" tIns="0" bIns="0" anchor="t">
            <a:spAutoFit/>
          </a:bodyPr>
          <a:lstStyle/>
          <a:p>
            <a:pPr algn="ctr">
              <a:lnSpc>
                <a:spcPct val="112000"/>
              </a:lnSpc>
              <a:spcBef>
                <a:spcPts val="0"/>
              </a:spcBef>
              <a:spcAft>
                <a:spcPts val="600"/>
              </a:spcAft>
            </a:pPr>
            <a:r>
              <a:rPr sz="1400" b="1" i="0">
                <a:solidFill>
                  <a:srgbClr val="35A46F"/>
                </a:solidFill>
                <a:latin typeface="Trebuchet MS"/>
              </a:rPr>
              <a:t>NOVIRA — Nature · Vision · Response · Action</a:t>
            </a:r>
          </a:p>
          <a:p>
            <a:pPr algn="ctr">
              <a:lnSpc>
                <a:spcPct val="112000"/>
              </a:lnSpc>
              <a:spcBef>
                <a:spcPts val="0"/>
              </a:spcBef>
              <a:spcAft>
                <a:spcPts val="400"/>
              </a:spcAft>
            </a:pPr>
            <a:r>
              <a:rPr sz="1200" b="0" i="0">
                <a:solidFill>
                  <a:srgbClr val="E8F3EC"/>
                </a:solidFill>
                <a:latin typeface="Arial"/>
              </a:rPr>
              <a:t>Detect Today, Keep Tomorrow</a:t>
            </a:r>
          </a:p>
        </p:txBody>
      </p:sp>
      <p:sp>
        <p:nvSpPr>
          <p:cNvPr id="7" name="Rectangle 6"/>
          <p:cNvSpPr/>
          <p:nvPr/>
        </p:nvSpPr>
        <p:spPr>
          <a:xfrm>
            <a:off x="5547207" y="4892040"/>
            <a:ext cx="1097280" cy="32004"/>
          </a:xfrm>
          <a:prstGeom prst="rect">
            <a:avLst/>
          </a:prstGeom>
          <a:solidFill>
            <a:srgbClr val="35A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371600" y="5120640"/>
            <a:ext cx="9448495" cy="548640"/>
          </a:xfrm>
          <a:prstGeom prst="rect">
            <a:avLst/>
          </a:prstGeom>
          <a:noFill/>
        </p:spPr>
        <p:txBody>
          <a:bodyPr wrap="square" lIns="0" rIns="0" tIns="0" bIns="0" anchor="t">
            <a:spAutoFit/>
          </a:bodyPr>
          <a:lstStyle/>
          <a:p>
            <a:pPr algn="ctr">
              <a:lnSpc>
                <a:spcPct val="112000"/>
              </a:lnSpc>
              <a:spcBef>
                <a:spcPts val="0"/>
              </a:spcBef>
              <a:spcAft>
                <a:spcPts val="0"/>
              </a:spcAft>
            </a:pPr>
            <a:r>
              <a:rPr sz="1150" b="0" i="0">
                <a:solidFill>
                  <a:srgbClr val="8FB3A0"/>
                </a:solidFill>
                <a:latin typeface="Arial"/>
              </a:rPr>
              <a:t>Kami membuka sesi tanya jawab — termasuk untuk setiap angka dan setiap keterbatasan yang kami sampaikan.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